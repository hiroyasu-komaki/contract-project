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E8600A">
              <a:alpha val="12000"/>
            </a:srgbClr>
          </a:solidFill>
          <a:ln w="12700">
            <a:solidFill>
              <a:srgbClr val="E8600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91840"/>
            <a:ext cx="2377440" cy="2377440"/>
          </a:xfrm>
          <a:prstGeom prst="ellipse">
            <a:avLst/>
          </a:prstGeom>
          <a:solidFill>
            <a:srgbClr val="E8600A">
              <a:alpha val="18000"/>
            </a:srgbClr>
          </a:solidFill>
          <a:ln w="12700">
            <a:solidFill>
              <a:srgbClr val="E8600A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Contract Guidelines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 Management Reference for IT Department Members  |  First Draft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971800"/>
            <a:ext cx="5029200" cy="0"/>
          </a:xfrm>
          <a:prstGeom prst="line">
            <a:avLst/>
          </a:prstGeom>
          <a:noFill/>
          <a:ln w="25400">
            <a:solidFill>
              <a:srgbClr val="E86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18211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Department</a:t>
            </a:r>
            <a:pPr algn="l" indent="0" marL="0">
              <a:buNone/>
            </a:pPr>
            <a:r>
              <a:rPr lang="en-US" sz="13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2025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4370832"/>
            <a:ext cx="1737360" cy="30175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37083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Purpose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931920" cy="3566160"/>
          </a:xfrm>
          <a:prstGeom prst="rect">
            <a:avLst/>
          </a:prstGeom>
          <a:solidFill>
            <a:srgbClr val="FEF0E6"/>
          </a:solidFill>
          <a:ln w="12700">
            <a:solidFill>
              <a:srgbClr val="FEF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91440" cy="356616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Triggering Incident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3520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Dataverse database storage for Microsoft Dynamics 365 exceeded its contracted entitlement, requiring the purchase of additional capacity and resulting in unexpected penalty costs.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incident prompted a review of contract management practices within the IT Department, leading to the creation of this guideline.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26280" y="1051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Objectives of This Document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26280" y="1645920"/>
            <a:ext cx="502920" cy="50292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66360" y="16002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the full landscape of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types handled by 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26280" y="2350008"/>
            <a:ext cx="4315968" cy="0"/>
          </a:xfrm>
          <a:prstGeom prst="line">
            <a:avLst/>
          </a:prstGeom>
          <a:noFill/>
          <a:ln w="9525">
            <a:solidFill>
              <a:srgbClr val="DD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2670048"/>
            <a:ext cx="502920" cy="50292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66360" y="262432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Lessons Learned from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Dynamics 365 incident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26280" y="3374136"/>
            <a:ext cx="4315968" cy="0"/>
          </a:xfrm>
          <a:prstGeom prst="line">
            <a:avLst/>
          </a:prstGeom>
          <a:noFill/>
          <a:ln w="9525">
            <a:solidFill>
              <a:srgbClr val="DDE3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26280" y="3694176"/>
            <a:ext cx="502920" cy="502920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3694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66360" y="364845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a contract-type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framework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is a first draft and will be refined iteratively through review and feedback.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Types Managed by 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4315968" cy="868680"/>
          </a:xfrm>
          <a:prstGeom prst="rect">
            <a:avLst/>
          </a:prstGeom>
          <a:solidFill>
            <a:srgbClr val="F8FAFB"/>
          </a:solidFill>
          <a:ln w="6350">
            <a:solidFill>
              <a:srgbClr val="DDE3E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87552"/>
            <a:ext cx="384048" cy="8686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87552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051560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SaaS Contracts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Usage/billing models  /  Data ownership  /  Service termination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99432" y="987552"/>
            <a:ext cx="4315968" cy="868680"/>
          </a:xfrm>
          <a:prstGeom prst="rect">
            <a:avLst/>
          </a:prstGeom>
          <a:solidFill>
            <a:srgbClr val="F8FAFB"/>
          </a:solidFill>
          <a:ln w="6350">
            <a:solidFill>
              <a:srgbClr val="DDE3E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987552"/>
            <a:ext cx="384048" cy="8686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987552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56632" y="1051560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License Contracts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56632" y="1417320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Audit rights  /  Auto-renewal  /  Minimum commitments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1911096"/>
            <a:ext cx="4315968" cy="868680"/>
          </a:xfrm>
          <a:prstGeom prst="rect">
            <a:avLst/>
          </a:prstGeom>
          <a:solidFill>
            <a:srgbClr val="F8FAFB"/>
          </a:solidFill>
          <a:ln w="6350">
            <a:solidFill>
              <a:srgbClr val="DDE3E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1911096"/>
            <a:ext cx="384048" cy="8686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911096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" y="1975104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Development Contracts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2340864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Deliverable definition  /  IP ownership  /  Warranty liability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99432" y="1911096"/>
            <a:ext cx="4315968" cy="868680"/>
          </a:xfrm>
          <a:prstGeom prst="rect">
            <a:avLst/>
          </a:prstGeom>
          <a:solidFill>
            <a:srgbClr val="F8FAFB"/>
          </a:solidFill>
          <a:ln w="6350">
            <a:solidFill>
              <a:srgbClr val="DDE3E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9432" y="1911096"/>
            <a:ext cx="384048" cy="8686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1911096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56632" y="1975104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Managed Services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56632" y="2340864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SLA  /  Subcontracting limits  /  EOL / EOS handling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2834640"/>
            <a:ext cx="4315968" cy="868680"/>
          </a:xfrm>
          <a:prstGeom prst="rect">
            <a:avLst/>
          </a:prstGeom>
          <a:solidFill>
            <a:srgbClr val="F8FAFB"/>
          </a:solidFill>
          <a:ln w="6350">
            <a:solidFill>
              <a:srgbClr val="DDE3E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834640"/>
            <a:ext cx="384048" cy="8686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2834640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5800" y="2898648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Data Contracts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" y="3264408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GDPR compliance  /  Cross-border transfer  /  Incident liability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99432" y="2834640"/>
            <a:ext cx="4315968" cy="868680"/>
          </a:xfrm>
          <a:prstGeom prst="rect">
            <a:avLst/>
          </a:prstGeom>
          <a:solidFill>
            <a:srgbClr val="F8FAFB"/>
          </a:solidFill>
          <a:ln w="6350">
            <a:solidFill>
              <a:srgbClr val="DDE3E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99432" y="2834640"/>
            <a:ext cx="384048" cy="8686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9432" y="2834640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056632" y="2898648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Telecom Contracts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56632" y="3264408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SLA  /  Minimum term  /  Early termination penalties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" y="3758184"/>
            <a:ext cx="4315968" cy="868680"/>
          </a:xfrm>
          <a:prstGeom prst="rect">
            <a:avLst/>
          </a:prstGeom>
          <a:solidFill>
            <a:srgbClr val="F8FAFB"/>
          </a:solidFill>
          <a:ln w="6350">
            <a:solidFill>
              <a:srgbClr val="DDE3E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28600" y="3758184"/>
            <a:ext cx="384048" cy="8686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" y="3758184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85800" y="3822192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Staffing Contracts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5800" y="4187952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Disguised employment risk  /  Command authority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99432" y="3758184"/>
            <a:ext cx="4315968" cy="868680"/>
          </a:xfrm>
          <a:prstGeom prst="rect">
            <a:avLst/>
          </a:prstGeom>
          <a:solidFill>
            <a:srgbClr val="F8FAFB"/>
          </a:solidFill>
          <a:ln w="6350">
            <a:solidFill>
              <a:srgbClr val="DDE3E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99432" y="3758184"/>
            <a:ext cx="384048" cy="8686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99432" y="3758184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056632" y="3822192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(PoC / API / Domain)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056632" y="4187952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Contract transition conditions  /  Rate limits  /  API deprecation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— Dynamics 365 Storage Overage Incident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8686800" cy="914400"/>
          </a:xfrm>
          <a:prstGeom prst="rect">
            <a:avLst/>
          </a:prstGeom>
          <a:solidFill>
            <a:srgbClr val="FEF0E6"/>
          </a:solidFill>
          <a:ln w="6350">
            <a:solidFill>
              <a:srgbClr val="E860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24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Dynamics 365 Dataverse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0" cy="685800"/>
          </a:xfrm>
          <a:prstGeom prst="line">
            <a:avLst/>
          </a:prstGeom>
          <a:noFill/>
          <a:ln w="9525">
            <a:solidFill>
              <a:srgbClr val="E86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0424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9184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storage exceeded contracted entitlement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0" cy="685800"/>
          </a:xfrm>
          <a:prstGeom prst="line">
            <a:avLst/>
          </a:prstGeom>
          <a:noFill/>
          <a:ln w="9525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0424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2648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capacity at $40/GB/month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8600" y="2011680"/>
            <a:ext cx="2788920" cy="411480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0116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Pre-Award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2514600"/>
            <a:ext cx="2788920" cy="960120"/>
          </a:xfrm>
          <a:prstGeom prst="rect">
            <a:avLst/>
          </a:prstGeom>
          <a:solidFill>
            <a:srgbClr val="FEF0E6"/>
          </a:solidFill>
          <a:ln w="9525">
            <a:solidFill>
              <a:srgbClr val="E8600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514600"/>
            <a:ext cx="73152" cy="9601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" y="2569464"/>
            <a:ext cx="25877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L-1: Evaluate billing models and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limits technically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contract execution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3584448"/>
            <a:ext cx="2788920" cy="960120"/>
          </a:xfrm>
          <a:prstGeom prst="rect">
            <a:avLst/>
          </a:prstGeom>
          <a:solidFill>
            <a:srgbClr val="F8FAFB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3584448"/>
            <a:ext cx="73152" cy="9601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" y="3639312"/>
            <a:ext cx="25877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L-6: Optimize storage tier selection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design stage, considering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differences by type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086100" y="2011680"/>
            <a:ext cx="2788920" cy="411480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86100" y="20116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086100" y="2514600"/>
            <a:ext cx="2788920" cy="960120"/>
          </a:xfrm>
          <a:prstGeom prst="rect">
            <a:avLst/>
          </a:prstGeom>
          <a:solidFill>
            <a:srgbClr val="FEF0E6"/>
          </a:solidFill>
          <a:ln w="9525">
            <a:solidFill>
              <a:srgbClr val="E8600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86100" y="2514600"/>
            <a:ext cx="73152" cy="9601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32404" y="2569464"/>
            <a:ext cx="25877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L-2: Clarify overage trigger conditions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unit costs, and share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 across IT team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086100" y="3584448"/>
            <a:ext cx="2788920" cy="960120"/>
          </a:xfrm>
          <a:prstGeom prst="rect">
            <a:avLst/>
          </a:prstGeom>
          <a:solidFill>
            <a:srgbClr val="F8FAFB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86100" y="3584448"/>
            <a:ext cx="73152" cy="9601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32404" y="3639312"/>
            <a:ext cx="25877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L-3: Understand entitlement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logic and track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allocations at all times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43600" y="2011680"/>
            <a:ext cx="2788920" cy="411480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20116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Post-Award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943600" y="2514600"/>
            <a:ext cx="2788920" cy="960120"/>
          </a:xfrm>
          <a:prstGeom prst="rect">
            <a:avLst/>
          </a:prstGeom>
          <a:solidFill>
            <a:srgbClr val="FEF0E6"/>
          </a:solidFill>
          <a:ln w="9525">
            <a:solidFill>
              <a:srgbClr val="E8600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2514600"/>
            <a:ext cx="73152" cy="9601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9904" y="2569464"/>
            <a:ext cx="25877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L-4: Institutionalize capacity usage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as a standard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management activity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43600" y="3584448"/>
            <a:ext cx="2788920" cy="960120"/>
          </a:xfrm>
          <a:prstGeom prst="rect">
            <a:avLst/>
          </a:prstGeom>
          <a:solidFill>
            <a:srgbClr val="F8FAFB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584448"/>
            <a:ext cx="73152" cy="9601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9904" y="3639312"/>
            <a:ext cx="25877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L-5: Track vendor-side entitlement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regularly and evaluate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opportunities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Checklist Framework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057400" cy="47548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0584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1243584"/>
            <a:ext cx="91440" cy="0"/>
          </a:xfrm>
          <a:prstGeom prst="line">
            <a:avLst/>
          </a:prstGeom>
          <a:noFill/>
          <a:ln w="19050">
            <a:solidFill>
              <a:srgbClr val="E860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517904"/>
            <a:ext cx="2057400" cy="256032"/>
          </a:xfrm>
          <a:prstGeom prst="rect">
            <a:avLst/>
          </a:prstGeom>
          <a:solidFill>
            <a:srgbClr val="FFDAC1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5179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Top Priority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" y="18288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121408"/>
            <a:ext cx="20574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2121408"/>
            <a:ext cx="64008" cy="10789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167128"/>
            <a:ext cx="18928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A-1, A-2: Cloud / SaaS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B-1: Enterprise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(EA/ELA)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77440" y="1005840"/>
            <a:ext cx="2057400" cy="475488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100584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34840" y="1243584"/>
            <a:ext cx="91440" cy="0"/>
          </a:xfrm>
          <a:prstGeom prst="line">
            <a:avLst/>
          </a:prstGeom>
          <a:noFill/>
          <a:ln w="19050">
            <a:solidFill>
              <a:srgbClr val="E8600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1517904"/>
            <a:ext cx="2057400" cy="256032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15179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High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77440" y="18288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377440" y="2121408"/>
            <a:ext cx="20574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2121408"/>
            <a:ext cx="64008" cy="10789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96312" y="2167128"/>
            <a:ext cx="18928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C-1, C-2: System Dev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D-1, D-2: Maintenance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Managed Services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26280" y="1005840"/>
            <a:ext cx="2057400" cy="475488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100584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83680" y="1243584"/>
            <a:ext cx="91440" cy="0"/>
          </a:xfrm>
          <a:prstGeom prst="line">
            <a:avLst/>
          </a:prstGeom>
          <a:noFill/>
          <a:ln w="19050">
            <a:solidFill>
              <a:srgbClr val="E860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6280" y="1517904"/>
            <a:ext cx="2057400" cy="256032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15179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Medium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26280" y="18288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Q4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26280" y="2121408"/>
            <a:ext cx="20574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26280" y="2121408"/>
            <a:ext cx="64008" cy="10789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5152" y="2167128"/>
            <a:ext cx="18928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E-1, E-2: Data / Security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B-2, B-3: Subscription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Perpetual License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675120" y="1005840"/>
            <a:ext cx="2057400" cy="475488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100584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675120" y="1517904"/>
            <a:ext cx="2057400" cy="256032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15179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Standard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75120" y="18288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Q1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75120" y="2121408"/>
            <a:ext cx="20574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75120" y="2121408"/>
            <a:ext cx="64008" cy="10789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93992" y="2167128"/>
            <a:ext cx="18928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F, G, H Categories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/ Staffing / Other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28600" y="3364992"/>
            <a:ext cx="8686800" cy="0"/>
          </a:xfrm>
          <a:prstGeom prst="line">
            <a:avLst/>
          </a:prstGeom>
          <a:noFill/>
          <a:ln w="9525">
            <a:solidFill>
              <a:srgbClr val="DDE3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Design Principles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28600" y="3904488"/>
            <a:ext cx="237744" cy="237744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" y="3904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39496" y="38404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Practical: Completable by IT staff within 10–15 minutes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09160" y="3904488"/>
            <a:ext cx="237744" cy="237744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3904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020056" y="38404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guidance: Each item flags IT-only / Legal escalation / Procurement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28600" y="4389120"/>
            <a:ext cx="237744" cy="237744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" y="43891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39496" y="432511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Specific: Indicates exactly where to look and what values to verify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09160" y="4389120"/>
            <a:ext cx="237744" cy="237744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43891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020056" y="432511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Updatable: New items can be added as new Lessons Learned emerge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Contract Guidelines</dc:title>
  <dc:subject>PptxGenJS Presentation</dc:subject>
  <dc:creator>PptxGenJS</dc:creator>
  <cp:lastModifiedBy>PptxGenJS</cp:lastModifiedBy>
  <cp:revision>1</cp:revision>
  <dcterms:created xsi:type="dcterms:W3CDTF">2026-05-03T13:48:45Z</dcterms:created>
  <dcterms:modified xsi:type="dcterms:W3CDTF">2026-05-03T13:48:45Z</dcterms:modified>
</cp:coreProperties>
</file>