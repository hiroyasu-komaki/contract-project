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D4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600A"/>
          </a:solidFill>
          <a:ln w="12700">
            <a:solidFill>
              <a:srgbClr val="E8600A"/>
            </a:solidFill>
            <a:prstDash val="solid"/>
          </a:ln>
        </p:spPr>
      </p:sp>
      <p:sp>
        <p:nvSpPr>
          <p:cNvPr id="3" name="Shape 1"/>
          <p:cNvSpPr/>
          <p:nvPr/>
        </p:nvSpPr>
        <p:spPr>
          <a:xfrm>
            <a:off x="6217920" y="-1097280"/>
            <a:ext cx="4572000" cy="4572000"/>
          </a:xfrm>
          <a:prstGeom prst="ellipse">
            <a:avLst/>
          </a:prstGeom>
          <a:solidFill>
            <a:srgbClr val="E8600A">
              <a:alpha val="12000"/>
            </a:srgbClr>
          </a:solidFill>
          <a:ln w="12700">
            <a:solidFill>
              <a:srgbClr val="E8600A">
                <a:alpha val="12000"/>
              </a:srgbClr>
            </a:solidFill>
            <a:prstDash val="solid"/>
          </a:ln>
        </p:spPr>
      </p:sp>
      <p:sp>
        <p:nvSpPr>
          <p:cNvPr id="4" name="Shape 2"/>
          <p:cNvSpPr/>
          <p:nvPr/>
        </p:nvSpPr>
        <p:spPr>
          <a:xfrm>
            <a:off x="7498080" y="3291840"/>
            <a:ext cx="2377440" cy="2377440"/>
          </a:xfrm>
          <a:prstGeom prst="ellipse">
            <a:avLst/>
          </a:prstGeom>
          <a:solidFill>
            <a:srgbClr val="E8600A">
              <a:alpha val="18000"/>
            </a:srgbClr>
          </a:solidFill>
          <a:ln w="12700">
            <a:solidFill>
              <a:srgbClr val="E8600A">
                <a:alpha val="18000"/>
              </a:srgbClr>
            </a:solidFill>
            <a:prstDash val="solid"/>
          </a:ln>
        </p:spPr>
      </p:sp>
      <p:sp>
        <p:nvSpPr>
          <p:cNvPr id="5" name="Text 3"/>
          <p:cNvSpPr/>
          <p:nvPr/>
        </p:nvSpPr>
        <p:spPr>
          <a:xfrm>
            <a:off x="502920" y="1097280"/>
            <a:ext cx="7772400" cy="105156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IT契約ガイドライン</a:t>
            </a:r>
            <a:endParaRPr lang="en-US" sz="4200" dirty="0"/>
          </a:p>
        </p:txBody>
      </p:sp>
      <p:sp>
        <p:nvSpPr>
          <p:cNvPr id="6" name="Text 4"/>
          <p:cNvSpPr/>
          <p:nvPr/>
        </p:nvSpPr>
        <p:spPr>
          <a:xfrm>
            <a:off x="502920" y="2286000"/>
            <a:ext cx="7772400" cy="502920"/>
          </a:xfrm>
          <a:prstGeom prst="rect">
            <a:avLst/>
          </a:prstGeom>
          <a:noFill/>
          <a:ln/>
        </p:spPr>
        <p:txBody>
          <a:bodyPr wrap="square" lIns="0" tIns="0" rIns="0" bIns="0" rtlCol="0" anchor="ctr"/>
          <a:lstStyle/>
          <a:p>
            <a:pPr algn="l" indent="0" marL="0">
              <a:buNone/>
            </a:pPr>
            <a:r>
              <a:rPr lang="en-US" sz="1500" dirty="0">
                <a:solidFill>
                  <a:srgbClr val="A0B8CC"/>
                </a:solidFill>
                <a:latin typeface="Calibri" pitchFamily="34" charset="0"/>
                <a:ea typeface="Calibri" pitchFamily="34" charset="-122"/>
                <a:cs typeface="Calibri" pitchFamily="34" charset="-120"/>
              </a:rPr>
              <a:t>IT部門メンバーのための契約管理ガイドライン　初版ドラフト</a:t>
            </a:r>
            <a:endParaRPr lang="en-US" sz="1500" dirty="0"/>
          </a:p>
        </p:txBody>
      </p:sp>
      <p:sp>
        <p:nvSpPr>
          <p:cNvPr id="7" name="Shape 5"/>
          <p:cNvSpPr/>
          <p:nvPr/>
        </p:nvSpPr>
        <p:spPr>
          <a:xfrm>
            <a:off x="502920" y="2971800"/>
            <a:ext cx="5029200" cy="0"/>
          </a:xfrm>
          <a:prstGeom prst="line">
            <a:avLst/>
          </a:prstGeom>
          <a:noFill/>
          <a:ln w="25400">
            <a:solidFill>
              <a:srgbClr val="E8600A"/>
            </a:solidFill>
            <a:prstDash val="solid"/>
          </a:ln>
        </p:spPr>
      </p:sp>
      <p:sp>
        <p:nvSpPr>
          <p:cNvPr id="8" name="Text 6"/>
          <p:cNvSpPr/>
          <p:nvPr/>
        </p:nvSpPr>
        <p:spPr>
          <a:xfrm>
            <a:off x="502920" y="3182112"/>
            <a:ext cx="640080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IT Department</a:t>
            </a:r>
            <a:pPr algn="l" indent="0" marL="0">
              <a:buNone/>
            </a:pPr>
            <a:r>
              <a:rPr lang="en-US" sz="1300" dirty="0">
                <a:solidFill>
                  <a:srgbClr val="A0B8CC"/>
                </a:solidFill>
                <a:latin typeface="Calibri" pitchFamily="34" charset="0"/>
                <a:ea typeface="Calibri" pitchFamily="34" charset="-122"/>
                <a:cs typeface="Calibri" pitchFamily="34" charset="-120"/>
              </a:rPr>
              <a:t>   |   2025年</a:t>
            </a:r>
            <a:endParaRPr lang="en-US" sz="1300" dirty="0"/>
          </a:p>
        </p:txBody>
      </p:sp>
      <p:sp>
        <p:nvSpPr>
          <p:cNvPr id="9" name="Shape 7"/>
          <p:cNvSpPr/>
          <p:nvPr/>
        </p:nvSpPr>
        <p:spPr>
          <a:xfrm>
            <a:off x="502920" y="4370832"/>
            <a:ext cx="1737360" cy="301752"/>
          </a:xfrm>
          <a:prstGeom prst="rect">
            <a:avLst/>
          </a:prstGeom>
          <a:solidFill>
            <a:srgbClr val="E8600A"/>
          </a:solidFill>
          <a:ln w="12700">
            <a:solidFill>
              <a:srgbClr val="E8600A"/>
            </a:solidFill>
            <a:prstDash val="solid"/>
          </a:ln>
        </p:spPr>
      </p:sp>
      <p:sp>
        <p:nvSpPr>
          <p:cNvPr id="10" name="Text 8"/>
          <p:cNvSpPr/>
          <p:nvPr/>
        </p:nvSpPr>
        <p:spPr>
          <a:xfrm>
            <a:off x="502920" y="4370832"/>
            <a:ext cx="1737360"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D45"/>
          </a:solidFill>
          <a:ln w="12700">
            <a:solidFill>
              <a:srgbClr val="1E2D45"/>
            </a:solidFill>
            <a:prstDash val="solid"/>
          </a:ln>
        </p:spPr>
      </p:sp>
      <p:sp>
        <p:nvSpPr>
          <p:cNvPr id="3" name="Shape 1"/>
          <p:cNvSpPr/>
          <p:nvPr/>
        </p:nvSpPr>
        <p:spPr>
          <a:xfrm>
            <a:off x="0" y="0"/>
            <a:ext cx="91440" cy="914400"/>
          </a:xfrm>
          <a:prstGeom prst="rect">
            <a:avLst/>
          </a:prstGeom>
          <a:solidFill>
            <a:srgbClr val="E8600A"/>
          </a:solidFill>
          <a:ln w="12700">
            <a:solidFill>
              <a:srgbClr val="E8600A"/>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背景と目的</a:t>
            </a:r>
            <a:endParaRPr lang="en-US" sz="2600" dirty="0"/>
          </a:p>
        </p:txBody>
      </p:sp>
      <p:sp>
        <p:nvSpPr>
          <p:cNvPr id="5" name="Shape 3"/>
          <p:cNvSpPr/>
          <p:nvPr/>
        </p:nvSpPr>
        <p:spPr>
          <a:xfrm>
            <a:off x="274320" y="1051560"/>
            <a:ext cx="3931920" cy="3566160"/>
          </a:xfrm>
          <a:prstGeom prst="rect">
            <a:avLst/>
          </a:prstGeom>
          <a:solidFill>
            <a:srgbClr val="FEF0E6"/>
          </a:solidFill>
          <a:ln w="12700">
            <a:solidFill>
              <a:srgbClr val="FEF0E6"/>
            </a:solidFill>
            <a:prstDash val="solid"/>
          </a:ln>
        </p:spPr>
      </p:sp>
      <p:sp>
        <p:nvSpPr>
          <p:cNvPr id="6" name="Shape 4"/>
          <p:cNvSpPr/>
          <p:nvPr/>
        </p:nvSpPr>
        <p:spPr>
          <a:xfrm>
            <a:off x="274320" y="1051560"/>
            <a:ext cx="91440" cy="3566160"/>
          </a:xfrm>
          <a:prstGeom prst="rect">
            <a:avLst/>
          </a:prstGeom>
          <a:solidFill>
            <a:srgbClr val="E8600A"/>
          </a:solidFill>
          <a:ln w="12700">
            <a:solidFill>
              <a:srgbClr val="E8600A"/>
            </a:solidFill>
            <a:prstDash val="solid"/>
          </a:ln>
        </p:spPr>
      </p:sp>
      <p:sp>
        <p:nvSpPr>
          <p:cNvPr id="7" name="Text 5"/>
          <p:cNvSpPr/>
          <p:nvPr/>
        </p:nvSpPr>
        <p:spPr>
          <a:xfrm>
            <a:off x="502920" y="1115568"/>
            <a:ext cx="3520440" cy="347472"/>
          </a:xfrm>
          <a:prstGeom prst="rect">
            <a:avLst/>
          </a:prstGeom>
          <a:noFill/>
          <a:ln/>
        </p:spPr>
        <p:txBody>
          <a:bodyPr wrap="square" lIns="0" tIns="0" rIns="0" bIns="0" rtlCol="0" anchor="ctr"/>
          <a:lstStyle/>
          <a:p>
            <a:pPr algn="l" indent="0" marL="0">
              <a:buNone/>
            </a:pPr>
            <a:r>
              <a:rPr lang="en-US" sz="1300" b="1" dirty="0">
                <a:solidFill>
                  <a:srgbClr val="E8600A"/>
                </a:solidFill>
                <a:latin typeface="Calibri" pitchFamily="34" charset="0"/>
                <a:ea typeface="Calibri" pitchFamily="34" charset="-122"/>
                <a:cs typeface="Calibri" pitchFamily="34" charset="-120"/>
              </a:rPr>
              <a:t>きっかけとなった事案</a:t>
            </a:r>
            <a:endParaRPr lang="en-US" sz="1300" dirty="0"/>
          </a:p>
        </p:txBody>
      </p:sp>
      <p:sp>
        <p:nvSpPr>
          <p:cNvPr id="8" name="Text 6"/>
          <p:cNvSpPr/>
          <p:nvPr/>
        </p:nvSpPr>
        <p:spPr>
          <a:xfrm>
            <a:off x="502920" y="1536192"/>
            <a:ext cx="3520440" cy="2926080"/>
          </a:xfrm>
          <a:prstGeom prst="rect">
            <a:avLst/>
          </a:prstGeom>
          <a:noFill/>
          <a:ln/>
        </p:spPr>
        <p:txBody>
          <a:bodyPr wrap="square" lIns="0" tIns="0" rIns="0" bIns="0" rtlCol="0" anchor="t"/>
          <a:lstStyle/>
          <a:p>
            <a:pPr algn="l" indent="0" marL="0">
              <a:buNone/>
            </a:pPr>
            <a:r>
              <a:rPr lang="en-US" sz="1300" dirty="0">
                <a:solidFill>
                  <a:srgbClr val="1E293B"/>
                </a:solidFill>
                <a:latin typeface="Calibri" pitchFamily="34" charset="0"/>
                <a:ea typeface="Calibri" pitchFamily="34" charset="-122"/>
                <a:cs typeface="Calibri" pitchFamily="34" charset="-120"/>
              </a:rPr>
              <a:t>Microsoft Dynamics 365 のDataverseデータベース容量が契約上のエンタイトルメントを超過し、追加容量の購入が必要となりペナルティ費用が発生。</a:t>
            </a:r>
            <a:endParaRPr lang="en-US" sz="1300" dirty="0"/>
          </a:p>
          <a:p>
            <a:pPr algn="l" indent="0" marL="0">
              <a:buNone/>
            </a:pPr>
            <a:endParaRPr lang="en-US" sz="1300" dirty="0"/>
          </a:p>
          <a:p>
            <a:pPr algn="l" indent="0" marL="0">
              <a:buNone/>
            </a:pPr>
            <a:r>
              <a:rPr lang="en-US" sz="1300" dirty="0">
                <a:solidFill>
                  <a:srgbClr val="1E293B"/>
                </a:solidFill>
                <a:latin typeface="Calibri" pitchFamily="34" charset="0"/>
                <a:ea typeface="Calibri" pitchFamily="34" charset="-122"/>
                <a:cs typeface="Calibri" pitchFamily="34" charset="-120"/>
              </a:rPr>
              <a:t>この事案を契機に、IT部門における契約管理の強化を目的として本ガイドラインを作成しました。</a:t>
            </a:r>
            <a:endParaRPr lang="en-US" sz="1300" dirty="0"/>
          </a:p>
        </p:txBody>
      </p:sp>
      <p:sp>
        <p:nvSpPr>
          <p:cNvPr id="9" name="Text 7"/>
          <p:cNvSpPr/>
          <p:nvPr/>
        </p:nvSpPr>
        <p:spPr>
          <a:xfrm>
            <a:off x="4526280" y="1051560"/>
            <a:ext cx="4297680" cy="365760"/>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本文書の3つの目的</a:t>
            </a:r>
            <a:endParaRPr lang="en-US" sz="1300" dirty="0"/>
          </a:p>
        </p:txBody>
      </p:sp>
      <p:sp>
        <p:nvSpPr>
          <p:cNvPr id="10" name="Shape 8"/>
          <p:cNvSpPr/>
          <p:nvPr/>
        </p:nvSpPr>
        <p:spPr>
          <a:xfrm>
            <a:off x="4526280" y="1645920"/>
            <a:ext cx="502920" cy="502920"/>
          </a:xfrm>
          <a:prstGeom prst="ellipse">
            <a:avLst/>
          </a:prstGeom>
          <a:solidFill>
            <a:srgbClr val="E8600A"/>
          </a:solidFill>
          <a:ln w="12700">
            <a:solidFill>
              <a:srgbClr val="E8600A"/>
            </a:solidFill>
            <a:prstDash val="solid"/>
          </a:ln>
        </p:spPr>
      </p:sp>
      <p:sp>
        <p:nvSpPr>
          <p:cNvPr id="11" name="Text 9"/>
          <p:cNvSpPr/>
          <p:nvPr/>
        </p:nvSpPr>
        <p:spPr>
          <a:xfrm>
            <a:off x="4526280" y="16459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2" name="Text 10"/>
          <p:cNvSpPr/>
          <p:nvPr/>
        </p:nvSpPr>
        <p:spPr>
          <a:xfrm>
            <a:off x="5166360" y="1600200"/>
            <a:ext cx="3657600" cy="594360"/>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IT部門が取り扱う契約類型の</a:t>
            </a:r>
            <a:endParaRPr lang="en-US" sz="1300" dirty="0"/>
          </a:p>
          <a:p>
            <a:pPr algn="l" indent="0" marL="0">
              <a:buNone/>
            </a:pPr>
            <a:r>
              <a:rPr lang="en-US" sz="1300" dirty="0">
                <a:solidFill>
                  <a:srgbClr val="1E293B"/>
                </a:solidFill>
                <a:latin typeface="Calibri" pitchFamily="34" charset="0"/>
                <a:ea typeface="Calibri" pitchFamily="34" charset="-122"/>
                <a:cs typeface="Calibri" pitchFamily="34" charset="-120"/>
              </a:rPr>
              <a:t>全体像を可視化する</a:t>
            </a:r>
            <a:endParaRPr lang="en-US" sz="1300" dirty="0"/>
          </a:p>
        </p:txBody>
      </p:sp>
      <p:sp>
        <p:nvSpPr>
          <p:cNvPr id="13" name="Shape 11"/>
          <p:cNvSpPr/>
          <p:nvPr/>
        </p:nvSpPr>
        <p:spPr>
          <a:xfrm>
            <a:off x="4526280" y="2350008"/>
            <a:ext cx="4315968" cy="0"/>
          </a:xfrm>
          <a:prstGeom prst="line">
            <a:avLst/>
          </a:prstGeom>
          <a:noFill/>
          <a:ln w="9525">
            <a:solidFill>
              <a:srgbClr val="DDE3EA"/>
            </a:solidFill>
            <a:prstDash val="solid"/>
          </a:ln>
        </p:spPr>
      </p:sp>
      <p:sp>
        <p:nvSpPr>
          <p:cNvPr id="14" name="Shape 12"/>
          <p:cNvSpPr/>
          <p:nvPr/>
        </p:nvSpPr>
        <p:spPr>
          <a:xfrm>
            <a:off x="4526280" y="2670048"/>
            <a:ext cx="502920" cy="502920"/>
          </a:xfrm>
          <a:prstGeom prst="ellipse">
            <a:avLst/>
          </a:prstGeom>
          <a:solidFill>
            <a:srgbClr val="E8600A"/>
          </a:solidFill>
          <a:ln w="12700">
            <a:solidFill>
              <a:srgbClr val="E8600A"/>
            </a:solidFill>
            <a:prstDash val="solid"/>
          </a:ln>
        </p:spPr>
      </p:sp>
      <p:sp>
        <p:nvSpPr>
          <p:cNvPr id="15" name="Text 13"/>
          <p:cNvSpPr/>
          <p:nvPr/>
        </p:nvSpPr>
        <p:spPr>
          <a:xfrm>
            <a:off x="4526280" y="2670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6" name="Text 14"/>
          <p:cNvSpPr/>
          <p:nvPr/>
        </p:nvSpPr>
        <p:spPr>
          <a:xfrm>
            <a:off x="5166360" y="2624328"/>
            <a:ext cx="3657600" cy="594360"/>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Dynamics 365事案の</a:t>
            </a:r>
            <a:endParaRPr lang="en-US" sz="1300" dirty="0"/>
          </a:p>
          <a:p>
            <a:pPr algn="l" indent="0" marL="0">
              <a:buNone/>
            </a:pPr>
            <a:r>
              <a:rPr lang="en-US" sz="1300" dirty="0">
                <a:solidFill>
                  <a:srgbClr val="1E293B"/>
                </a:solidFill>
                <a:latin typeface="Calibri" pitchFamily="34" charset="0"/>
                <a:ea typeface="Calibri" pitchFamily="34" charset="-122"/>
                <a:cs typeface="Calibri" pitchFamily="34" charset="-120"/>
              </a:rPr>
              <a:t>Lessons Learned を整理する</a:t>
            </a:r>
            <a:endParaRPr lang="en-US" sz="1300" dirty="0"/>
          </a:p>
        </p:txBody>
      </p:sp>
      <p:sp>
        <p:nvSpPr>
          <p:cNvPr id="17" name="Shape 15"/>
          <p:cNvSpPr/>
          <p:nvPr/>
        </p:nvSpPr>
        <p:spPr>
          <a:xfrm>
            <a:off x="4526280" y="3374136"/>
            <a:ext cx="4315968" cy="0"/>
          </a:xfrm>
          <a:prstGeom prst="line">
            <a:avLst/>
          </a:prstGeom>
          <a:noFill/>
          <a:ln w="9525">
            <a:solidFill>
              <a:srgbClr val="DDE3EA"/>
            </a:solidFill>
            <a:prstDash val="solid"/>
          </a:ln>
        </p:spPr>
      </p:sp>
      <p:sp>
        <p:nvSpPr>
          <p:cNvPr id="18" name="Shape 16"/>
          <p:cNvSpPr/>
          <p:nvPr/>
        </p:nvSpPr>
        <p:spPr>
          <a:xfrm>
            <a:off x="4526280" y="3694176"/>
            <a:ext cx="502920" cy="502920"/>
          </a:xfrm>
          <a:prstGeom prst="ellipse">
            <a:avLst/>
          </a:prstGeom>
          <a:solidFill>
            <a:srgbClr val="E8600A"/>
          </a:solidFill>
          <a:ln w="12700">
            <a:solidFill>
              <a:srgbClr val="E8600A"/>
            </a:solidFill>
            <a:prstDash val="solid"/>
          </a:ln>
        </p:spPr>
      </p:sp>
      <p:sp>
        <p:nvSpPr>
          <p:cNvPr id="19" name="Text 17"/>
          <p:cNvSpPr/>
          <p:nvPr/>
        </p:nvSpPr>
        <p:spPr>
          <a:xfrm>
            <a:off x="4526280" y="369417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5166360" y="3648456"/>
            <a:ext cx="3657600" cy="594360"/>
          </a:xfrm>
          <a:prstGeom prst="rect">
            <a:avLst/>
          </a:prstGeom>
          <a:noFill/>
          <a:ln/>
        </p:spPr>
        <p:txBody>
          <a:bodyPr wrap="square" lIns="0" tIns="0" rIns="0" bIns="0"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契約類型ごとの</a:t>
            </a:r>
            <a:endParaRPr lang="en-US" sz="1300" dirty="0"/>
          </a:p>
          <a:p>
            <a:pPr algn="l" indent="0" marL="0">
              <a:buNone/>
            </a:pPr>
            <a:r>
              <a:rPr lang="en-US" sz="1300" dirty="0">
                <a:solidFill>
                  <a:srgbClr val="1E293B"/>
                </a:solidFill>
                <a:latin typeface="Calibri" pitchFamily="34" charset="0"/>
                <a:ea typeface="Calibri" pitchFamily="34" charset="-122"/>
                <a:cs typeface="Calibri" pitchFamily="34" charset="-120"/>
              </a:rPr>
              <a:t>チェックリスト整備を提案する</a:t>
            </a:r>
            <a:endParaRPr lang="en-US" sz="1300" dirty="0"/>
          </a:p>
        </p:txBody>
      </p:sp>
      <p:sp>
        <p:nvSpPr>
          <p:cNvPr id="21" name="Text 19"/>
          <p:cNvSpPr/>
          <p:nvPr/>
        </p:nvSpPr>
        <p:spPr>
          <a:xfrm>
            <a:off x="274320" y="4800600"/>
            <a:ext cx="8595360" cy="256032"/>
          </a:xfrm>
          <a:prstGeom prst="rect">
            <a:avLst/>
          </a:prstGeom>
          <a:noFill/>
          <a:ln/>
        </p:spPr>
        <p:txBody>
          <a:bodyPr wrap="square" lIns="0" tIns="0" rIns="0" bIns="0" rtlCol="0" anchor="ctr"/>
          <a:lstStyle/>
          <a:p>
            <a:pPr algn="l" indent="0" marL="0">
              <a:buNone/>
            </a:pPr>
            <a:r>
              <a:rPr lang="en-US" sz="900" i="1" dirty="0">
                <a:solidFill>
                  <a:srgbClr val="94A3B8"/>
                </a:solidFill>
                <a:latin typeface="Calibri" pitchFamily="34" charset="0"/>
                <a:ea typeface="Calibri" pitchFamily="34" charset="-122"/>
                <a:cs typeface="Calibri" pitchFamily="34" charset="-120"/>
              </a:rPr>
              <a:t>本文書は完成版ではなく、今後のレビュー・フィードバックを経て段階的に拡充していく予定です。</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D45"/>
          </a:solidFill>
          <a:ln w="12700">
            <a:solidFill>
              <a:srgbClr val="1E2D45"/>
            </a:solidFill>
            <a:prstDash val="solid"/>
          </a:ln>
        </p:spPr>
      </p:sp>
      <p:sp>
        <p:nvSpPr>
          <p:cNvPr id="3" name="Shape 1"/>
          <p:cNvSpPr/>
          <p:nvPr/>
        </p:nvSpPr>
        <p:spPr>
          <a:xfrm>
            <a:off x="0" y="0"/>
            <a:ext cx="91440" cy="914400"/>
          </a:xfrm>
          <a:prstGeom prst="rect">
            <a:avLst/>
          </a:prstGeom>
          <a:solidFill>
            <a:srgbClr val="E8600A"/>
          </a:solidFill>
          <a:ln w="12700">
            <a:solidFill>
              <a:srgbClr val="E8600A"/>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IT部門が取り扱う契約類型</a:t>
            </a:r>
            <a:endParaRPr lang="en-US" sz="2600" dirty="0"/>
          </a:p>
        </p:txBody>
      </p:sp>
      <p:sp>
        <p:nvSpPr>
          <p:cNvPr id="5" name="Shape 3"/>
          <p:cNvSpPr/>
          <p:nvPr/>
        </p:nvSpPr>
        <p:spPr>
          <a:xfrm>
            <a:off x="228600" y="987552"/>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228600" y="987552"/>
            <a:ext cx="384048" cy="868680"/>
          </a:xfrm>
          <a:prstGeom prst="rect">
            <a:avLst/>
          </a:prstGeom>
          <a:solidFill>
            <a:srgbClr val="E8600A"/>
          </a:solidFill>
          <a:ln w="12700">
            <a:solidFill>
              <a:srgbClr val="E8600A"/>
            </a:solidFill>
            <a:prstDash val="solid"/>
          </a:ln>
        </p:spPr>
      </p:sp>
      <p:sp>
        <p:nvSpPr>
          <p:cNvPr id="7" name="Text 5"/>
          <p:cNvSpPr/>
          <p:nvPr/>
        </p:nvSpPr>
        <p:spPr>
          <a:xfrm>
            <a:off x="228600" y="987552"/>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685800" y="1051560"/>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クラウド・SaaS契約</a:t>
            </a:r>
            <a:endParaRPr lang="en-US" sz="1300" dirty="0"/>
          </a:p>
        </p:txBody>
      </p:sp>
      <p:sp>
        <p:nvSpPr>
          <p:cNvPr id="9" name="Text 7"/>
          <p:cNvSpPr/>
          <p:nvPr/>
        </p:nvSpPr>
        <p:spPr>
          <a:xfrm>
            <a:off x="685800" y="1417320"/>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容量・課金モデル / データ所有権 / サービス終了条件</a:t>
            </a:r>
            <a:endParaRPr lang="en-US" sz="1000" dirty="0"/>
          </a:p>
        </p:txBody>
      </p:sp>
      <p:sp>
        <p:nvSpPr>
          <p:cNvPr id="10" name="Shape 8"/>
          <p:cNvSpPr/>
          <p:nvPr/>
        </p:nvSpPr>
        <p:spPr>
          <a:xfrm>
            <a:off x="4599432" y="987552"/>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11" name="Shape 9"/>
          <p:cNvSpPr/>
          <p:nvPr/>
        </p:nvSpPr>
        <p:spPr>
          <a:xfrm>
            <a:off x="4599432" y="987552"/>
            <a:ext cx="384048" cy="868680"/>
          </a:xfrm>
          <a:prstGeom prst="rect">
            <a:avLst/>
          </a:prstGeom>
          <a:solidFill>
            <a:srgbClr val="E8600A"/>
          </a:solidFill>
          <a:ln w="12700">
            <a:solidFill>
              <a:srgbClr val="E8600A"/>
            </a:solidFill>
            <a:prstDash val="solid"/>
          </a:ln>
        </p:spPr>
      </p:sp>
      <p:sp>
        <p:nvSpPr>
          <p:cNvPr id="12" name="Text 10"/>
          <p:cNvSpPr/>
          <p:nvPr/>
        </p:nvSpPr>
        <p:spPr>
          <a:xfrm>
            <a:off x="4599432" y="987552"/>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3" name="Text 11"/>
          <p:cNvSpPr/>
          <p:nvPr/>
        </p:nvSpPr>
        <p:spPr>
          <a:xfrm>
            <a:off x="5056632" y="1051560"/>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ソフトウェアライセンス契約</a:t>
            </a:r>
            <a:endParaRPr lang="en-US" sz="1300" dirty="0"/>
          </a:p>
        </p:txBody>
      </p:sp>
      <p:sp>
        <p:nvSpPr>
          <p:cNvPr id="14" name="Text 12"/>
          <p:cNvSpPr/>
          <p:nvPr/>
        </p:nvSpPr>
        <p:spPr>
          <a:xfrm>
            <a:off x="5056632" y="1417320"/>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監査権 / 自動更新 / 最低コミットメント</a:t>
            </a:r>
            <a:endParaRPr lang="en-US" sz="1000" dirty="0"/>
          </a:p>
        </p:txBody>
      </p:sp>
      <p:sp>
        <p:nvSpPr>
          <p:cNvPr id="15" name="Shape 13"/>
          <p:cNvSpPr/>
          <p:nvPr/>
        </p:nvSpPr>
        <p:spPr>
          <a:xfrm>
            <a:off x="228600" y="1911096"/>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16" name="Shape 14"/>
          <p:cNvSpPr/>
          <p:nvPr/>
        </p:nvSpPr>
        <p:spPr>
          <a:xfrm>
            <a:off x="228600" y="1911096"/>
            <a:ext cx="384048" cy="868680"/>
          </a:xfrm>
          <a:prstGeom prst="rect">
            <a:avLst/>
          </a:prstGeom>
          <a:solidFill>
            <a:srgbClr val="E8600A"/>
          </a:solidFill>
          <a:ln w="12700">
            <a:solidFill>
              <a:srgbClr val="E8600A"/>
            </a:solidFill>
            <a:prstDash val="solid"/>
          </a:ln>
        </p:spPr>
      </p:sp>
      <p:sp>
        <p:nvSpPr>
          <p:cNvPr id="17" name="Text 15"/>
          <p:cNvSpPr/>
          <p:nvPr/>
        </p:nvSpPr>
        <p:spPr>
          <a:xfrm>
            <a:off x="228600" y="1911096"/>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8" name="Text 16"/>
          <p:cNvSpPr/>
          <p:nvPr/>
        </p:nvSpPr>
        <p:spPr>
          <a:xfrm>
            <a:off x="685800" y="1975104"/>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システム開発・導入契約</a:t>
            </a:r>
            <a:endParaRPr lang="en-US" sz="1300" dirty="0"/>
          </a:p>
        </p:txBody>
      </p:sp>
      <p:sp>
        <p:nvSpPr>
          <p:cNvPr id="19" name="Text 17"/>
          <p:cNvSpPr/>
          <p:nvPr/>
        </p:nvSpPr>
        <p:spPr>
          <a:xfrm>
            <a:off x="685800" y="2340864"/>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成果物定義 / 知財帰属 / 瑕疵担保責任</a:t>
            </a:r>
            <a:endParaRPr lang="en-US" sz="1000" dirty="0"/>
          </a:p>
        </p:txBody>
      </p:sp>
      <p:sp>
        <p:nvSpPr>
          <p:cNvPr id="20" name="Shape 18"/>
          <p:cNvSpPr/>
          <p:nvPr/>
        </p:nvSpPr>
        <p:spPr>
          <a:xfrm>
            <a:off x="4599432" y="1911096"/>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21" name="Shape 19"/>
          <p:cNvSpPr/>
          <p:nvPr/>
        </p:nvSpPr>
        <p:spPr>
          <a:xfrm>
            <a:off x="4599432" y="1911096"/>
            <a:ext cx="384048" cy="868680"/>
          </a:xfrm>
          <a:prstGeom prst="rect">
            <a:avLst/>
          </a:prstGeom>
          <a:solidFill>
            <a:srgbClr val="E8600A"/>
          </a:solidFill>
          <a:ln w="12700">
            <a:solidFill>
              <a:srgbClr val="E8600A"/>
            </a:solidFill>
            <a:prstDash val="solid"/>
          </a:ln>
        </p:spPr>
      </p:sp>
      <p:sp>
        <p:nvSpPr>
          <p:cNvPr id="22" name="Text 20"/>
          <p:cNvSpPr/>
          <p:nvPr/>
        </p:nvSpPr>
        <p:spPr>
          <a:xfrm>
            <a:off x="4599432" y="1911096"/>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3" name="Text 21"/>
          <p:cNvSpPr/>
          <p:nvPr/>
        </p:nvSpPr>
        <p:spPr>
          <a:xfrm>
            <a:off x="5056632" y="1975104"/>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保守・運用・マネージドサービス</a:t>
            </a:r>
            <a:endParaRPr lang="en-US" sz="1300" dirty="0"/>
          </a:p>
        </p:txBody>
      </p:sp>
      <p:sp>
        <p:nvSpPr>
          <p:cNvPr id="24" name="Text 22"/>
          <p:cNvSpPr/>
          <p:nvPr/>
        </p:nvSpPr>
        <p:spPr>
          <a:xfrm>
            <a:off x="5056632" y="2340864"/>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SLA / 再委託制限 / EOL・EOS対応</a:t>
            </a:r>
            <a:endParaRPr lang="en-US" sz="1000" dirty="0"/>
          </a:p>
        </p:txBody>
      </p:sp>
      <p:sp>
        <p:nvSpPr>
          <p:cNvPr id="25" name="Shape 23"/>
          <p:cNvSpPr/>
          <p:nvPr/>
        </p:nvSpPr>
        <p:spPr>
          <a:xfrm>
            <a:off x="228600" y="2834640"/>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26" name="Shape 24"/>
          <p:cNvSpPr/>
          <p:nvPr/>
        </p:nvSpPr>
        <p:spPr>
          <a:xfrm>
            <a:off x="228600" y="2834640"/>
            <a:ext cx="384048" cy="868680"/>
          </a:xfrm>
          <a:prstGeom prst="rect">
            <a:avLst/>
          </a:prstGeom>
          <a:solidFill>
            <a:srgbClr val="E8600A"/>
          </a:solidFill>
          <a:ln w="12700">
            <a:solidFill>
              <a:srgbClr val="E8600A"/>
            </a:solidFill>
            <a:prstDash val="solid"/>
          </a:ln>
        </p:spPr>
      </p:sp>
      <p:sp>
        <p:nvSpPr>
          <p:cNvPr id="27" name="Text 25"/>
          <p:cNvSpPr/>
          <p:nvPr/>
        </p:nvSpPr>
        <p:spPr>
          <a:xfrm>
            <a:off x="228600" y="2834640"/>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28" name="Text 26"/>
          <p:cNvSpPr/>
          <p:nvPr/>
        </p:nvSpPr>
        <p:spPr>
          <a:xfrm>
            <a:off x="685800" y="2898648"/>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セキュリティ・データ関連契約</a:t>
            </a:r>
            <a:endParaRPr lang="en-US" sz="1300" dirty="0"/>
          </a:p>
        </p:txBody>
      </p:sp>
      <p:sp>
        <p:nvSpPr>
          <p:cNvPr id="29" name="Text 27"/>
          <p:cNvSpPr/>
          <p:nvPr/>
        </p:nvSpPr>
        <p:spPr>
          <a:xfrm>
            <a:off x="685800" y="3264408"/>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GDPR対応 / 越境移転 / インシデント責任</a:t>
            </a:r>
            <a:endParaRPr lang="en-US" sz="1000" dirty="0"/>
          </a:p>
        </p:txBody>
      </p:sp>
      <p:sp>
        <p:nvSpPr>
          <p:cNvPr id="30" name="Shape 28"/>
          <p:cNvSpPr/>
          <p:nvPr/>
        </p:nvSpPr>
        <p:spPr>
          <a:xfrm>
            <a:off x="4599432" y="2834640"/>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31" name="Shape 29"/>
          <p:cNvSpPr/>
          <p:nvPr/>
        </p:nvSpPr>
        <p:spPr>
          <a:xfrm>
            <a:off x="4599432" y="2834640"/>
            <a:ext cx="384048" cy="868680"/>
          </a:xfrm>
          <a:prstGeom prst="rect">
            <a:avLst/>
          </a:prstGeom>
          <a:solidFill>
            <a:srgbClr val="E8600A"/>
          </a:solidFill>
          <a:ln w="12700">
            <a:solidFill>
              <a:srgbClr val="E8600A"/>
            </a:solidFill>
            <a:prstDash val="solid"/>
          </a:ln>
        </p:spPr>
      </p:sp>
      <p:sp>
        <p:nvSpPr>
          <p:cNvPr id="32" name="Text 30"/>
          <p:cNvSpPr/>
          <p:nvPr/>
        </p:nvSpPr>
        <p:spPr>
          <a:xfrm>
            <a:off x="4599432" y="2834640"/>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a:t>
            </a:r>
            <a:endParaRPr lang="en-US" sz="1800" dirty="0"/>
          </a:p>
        </p:txBody>
      </p:sp>
      <p:sp>
        <p:nvSpPr>
          <p:cNvPr id="33" name="Text 31"/>
          <p:cNvSpPr/>
          <p:nvPr/>
        </p:nvSpPr>
        <p:spPr>
          <a:xfrm>
            <a:off x="5056632" y="2898648"/>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通信・ネットワーク契約</a:t>
            </a:r>
            <a:endParaRPr lang="en-US" sz="1300" dirty="0"/>
          </a:p>
        </p:txBody>
      </p:sp>
      <p:sp>
        <p:nvSpPr>
          <p:cNvPr id="34" name="Text 32"/>
          <p:cNvSpPr/>
          <p:nvPr/>
        </p:nvSpPr>
        <p:spPr>
          <a:xfrm>
            <a:off x="5056632" y="3264408"/>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SLA / 最低利用期間 / 中途解約違約金</a:t>
            </a:r>
            <a:endParaRPr lang="en-US" sz="1000" dirty="0"/>
          </a:p>
        </p:txBody>
      </p:sp>
      <p:sp>
        <p:nvSpPr>
          <p:cNvPr id="35" name="Shape 33"/>
          <p:cNvSpPr/>
          <p:nvPr/>
        </p:nvSpPr>
        <p:spPr>
          <a:xfrm>
            <a:off x="228600" y="3758184"/>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36" name="Shape 34"/>
          <p:cNvSpPr/>
          <p:nvPr/>
        </p:nvSpPr>
        <p:spPr>
          <a:xfrm>
            <a:off x="228600" y="3758184"/>
            <a:ext cx="384048" cy="868680"/>
          </a:xfrm>
          <a:prstGeom prst="rect">
            <a:avLst/>
          </a:prstGeom>
          <a:solidFill>
            <a:srgbClr val="E8600A"/>
          </a:solidFill>
          <a:ln w="12700">
            <a:solidFill>
              <a:srgbClr val="E8600A"/>
            </a:solidFill>
            <a:prstDash val="solid"/>
          </a:ln>
        </p:spPr>
      </p:sp>
      <p:sp>
        <p:nvSpPr>
          <p:cNvPr id="37" name="Text 35"/>
          <p:cNvSpPr/>
          <p:nvPr/>
        </p:nvSpPr>
        <p:spPr>
          <a:xfrm>
            <a:off x="228600" y="3758184"/>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38" name="Text 36"/>
          <p:cNvSpPr/>
          <p:nvPr/>
        </p:nvSpPr>
        <p:spPr>
          <a:xfrm>
            <a:off x="685800" y="3822192"/>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IT人材（派遣・SES）契約</a:t>
            </a:r>
            <a:endParaRPr lang="en-US" sz="1300" dirty="0"/>
          </a:p>
        </p:txBody>
      </p:sp>
      <p:sp>
        <p:nvSpPr>
          <p:cNvPr id="39" name="Text 37"/>
          <p:cNvSpPr/>
          <p:nvPr/>
        </p:nvSpPr>
        <p:spPr>
          <a:xfrm>
            <a:off x="685800" y="4187952"/>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偽装請負リスク / 指揮命令の整理</a:t>
            </a:r>
            <a:endParaRPr lang="en-US" sz="1000" dirty="0"/>
          </a:p>
        </p:txBody>
      </p:sp>
      <p:sp>
        <p:nvSpPr>
          <p:cNvPr id="40" name="Shape 38"/>
          <p:cNvSpPr/>
          <p:nvPr/>
        </p:nvSpPr>
        <p:spPr>
          <a:xfrm>
            <a:off x="4599432" y="3758184"/>
            <a:ext cx="4315968" cy="868680"/>
          </a:xfrm>
          <a:prstGeom prst="rect">
            <a:avLst/>
          </a:prstGeom>
          <a:solidFill>
            <a:srgbClr val="F8FAFB"/>
          </a:solidFill>
          <a:ln w="6350">
            <a:solidFill>
              <a:srgbClr val="DDE3EA"/>
            </a:solidFill>
            <a:prstDash val="solid"/>
          </a:ln>
          <a:effectLst>
            <a:outerShdw sx="100000" sy="100000" kx="0" ky="0" algn="bl" rotWithShape="0" blurRad="50800" dist="12700" dir="8100000">
              <a:srgbClr val="000000">
                <a:alpha val="7000"/>
              </a:srgbClr>
            </a:outerShdw>
          </a:effectLst>
        </p:spPr>
      </p:sp>
      <p:sp>
        <p:nvSpPr>
          <p:cNvPr id="41" name="Shape 39"/>
          <p:cNvSpPr/>
          <p:nvPr/>
        </p:nvSpPr>
        <p:spPr>
          <a:xfrm>
            <a:off x="4599432" y="3758184"/>
            <a:ext cx="384048" cy="868680"/>
          </a:xfrm>
          <a:prstGeom prst="rect">
            <a:avLst/>
          </a:prstGeom>
          <a:solidFill>
            <a:srgbClr val="E8600A"/>
          </a:solidFill>
          <a:ln w="12700">
            <a:solidFill>
              <a:srgbClr val="E8600A"/>
            </a:solidFill>
            <a:prstDash val="solid"/>
          </a:ln>
        </p:spPr>
      </p:sp>
      <p:sp>
        <p:nvSpPr>
          <p:cNvPr id="42" name="Text 40"/>
          <p:cNvSpPr/>
          <p:nvPr/>
        </p:nvSpPr>
        <p:spPr>
          <a:xfrm>
            <a:off x="4599432" y="3758184"/>
            <a:ext cx="38404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a:t>
            </a:r>
            <a:endParaRPr lang="en-US" sz="1800" dirty="0"/>
          </a:p>
        </p:txBody>
      </p:sp>
      <p:sp>
        <p:nvSpPr>
          <p:cNvPr id="43" name="Text 41"/>
          <p:cNvSpPr/>
          <p:nvPr/>
        </p:nvSpPr>
        <p:spPr>
          <a:xfrm>
            <a:off x="5056632" y="3822192"/>
            <a:ext cx="3785616" cy="347472"/>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その他（PoC・API・ドメイン）</a:t>
            </a:r>
            <a:endParaRPr lang="en-US" sz="1300" dirty="0"/>
          </a:p>
        </p:txBody>
      </p:sp>
      <p:sp>
        <p:nvSpPr>
          <p:cNvPr id="44" name="Text 42"/>
          <p:cNvSpPr/>
          <p:nvPr/>
        </p:nvSpPr>
        <p:spPr>
          <a:xfrm>
            <a:off x="5056632" y="4187952"/>
            <a:ext cx="3785616" cy="347472"/>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リスク: 本契約移行条件 / レート制限 / API廃止通知</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D45"/>
          </a:solidFill>
          <a:ln w="12700">
            <a:solidFill>
              <a:srgbClr val="1E2D45"/>
            </a:solidFill>
            <a:prstDash val="solid"/>
          </a:ln>
        </p:spPr>
      </p:sp>
      <p:sp>
        <p:nvSpPr>
          <p:cNvPr id="3" name="Shape 1"/>
          <p:cNvSpPr/>
          <p:nvPr/>
        </p:nvSpPr>
        <p:spPr>
          <a:xfrm>
            <a:off x="0" y="0"/>
            <a:ext cx="91440" cy="914400"/>
          </a:xfrm>
          <a:prstGeom prst="rect">
            <a:avLst/>
          </a:prstGeom>
          <a:solidFill>
            <a:srgbClr val="E8600A"/>
          </a:solidFill>
          <a:ln w="12700">
            <a:solidFill>
              <a:srgbClr val="E8600A"/>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Lessons Learned — Dynamics 365 容量超過事案</a:t>
            </a:r>
            <a:endParaRPr lang="en-US" sz="2200" dirty="0"/>
          </a:p>
        </p:txBody>
      </p:sp>
      <p:sp>
        <p:nvSpPr>
          <p:cNvPr id="5" name="Shape 3"/>
          <p:cNvSpPr/>
          <p:nvPr/>
        </p:nvSpPr>
        <p:spPr>
          <a:xfrm>
            <a:off x="228600" y="987552"/>
            <a:ext cx="8686800" cy="914400"/>
          </a:xfrm>
          <a:prstGeom prst="rect">
            <a:avLst/>
          </a:prstGeom>
          <a:solidFill>
            <a:srgbClr val="FEF0E6"/>
          </a:solidFill>
          <a:ln w="6350">
            <a:solidFill>
              <a:srgbClr val="E8600A"/>
            </a:solidFill>
            <a:prstDash val="solid"/>
          </a:ln>
        </p:spPr>
      </p:sp>
      <p:sp>
        <p:nvSpPr>
          <p:cNvPr id="6" name="Text 4"/>
          <p:cNvSpPr/>
          <p:nvPr/>
        </p:nvSpPr>
        <p:spPr>
          <a:xfrm>
            <a:off x="457200" y="1042416"/>
            <a:ext cx="2651760" cy="256032"/>
          </a:xfrm>
          <a:prstGeom prst="rect">
            <a:avLst/>
          </a:prstGeom>
          <a:noFill/>
          <a:ln/>
        </p:spPr>
        <p:txBody>
          <a:bodyPr wrap="square" lIns="0" tIns="0" rIns="0" bIns="0" rtlCol="0" anchor="ctr"/>
          <a:lstStyle/>
          <a:p>
            <a:pPr algn="l" indent="0" marL="0">
              <a:buNone/>
            </a:pPr>
            <a:r>
              <a:rPr lang="en-US" sz="950" b="1" dirty="0">
                <a:solidFill>
                  <a:srgbClr val="E8600A"/>
                </a:solidFill>
                <a:latin typeface="Calibri" pitchFamily="34" charset="0"/>
                <a:ea typeface="Calibri" pitchFamily="34" charset="-122"/>
                <a:cs typeface="Calibri" pitchFamily="34" charset="-120"/>
              </a:rPr>
              <a:t>対象</a:t>
            </a:r>
            <a:endParaRPr lang="en-US" sz="950" dirty="0"/>
          </a:p>
        </p:txBody>
      </p:sp>
      <p:sp>
        <p:nvSpPr>
          <p:cNvPr id="7" name="Text 5"/>
          <p:cNvSpPr/>
          <p:nvPr/>
        </p:nvSpPr>
        <p:spPr>
          <a:xfrm>
            <a:off x="457200" y="1325880"/>
            <a:ext cx="2651760" cy="45720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Microsoft Dynamics 365 Dataverse</a:t>
            </a:r>
            <a:endParaRPr lang="en-US" sz="1200" dirty="0"/>
          </a:p>
        </p:txBody>
      </p:sp>
      <p:sp>
        <p:nvSpPr>
          <p:cNvPr id="8" name="Shape 6"/>
          <p:cNvSpPr/>
          <p:nvPr/>
        </p:nvSpPr>
        <p:spPr>
          <a:xfrm>
            <a:off x="3200400" y="1097280"/>
            <a:ext cx="0" cy="685800"/>
          </a:xfrm>
          <a:prstGeom prst="line">
            <a:avLst/>
          </a:prstGeom>
          <a:noFill/>
          <a:ln w="9525">
            <a:solidFill>
              <a:srgbClr val="E8600A"/>
            </a:solidFill>
            <a:prstDash val="solid"/>
          </a:ln>
        </p:spPr>
      </p:sp>
      <p:sp>
        <p:nvSpPr>
          <p:cNvPr id="9" name="Text 7"/>
          <p:cNvSpPr/>
          <p:nvPr/>
        </p:nvSpPr>
        <p:spPr>
          <a:xfrm>
            <a:off x="3291840" y="1042416"/>
            <a:ext cx="2651760" cy="256032"/>
          </a:xfrm>
          <a:prstGeom prst="rect">
            <a:avLst/>
          </a:prstGeom>
          <a:noFill/>
          <a:ln/>
        </p:spPr>
        <p:txBody>
          <a:bodyPr wrap="square" lIns="0" tIns="0" rIns="0" bIns="0" rtlCol="0" anchor="ctr"/>
          <a:lstStyle/>
          <a:p>
            <a:pPr algn="l" indent="0" marL="0">
              <a:buNone/>
            </a:pPr>
            <a:r>
              <a:rPr lang="en-US" sz="950" b="1" dirty="0">
                <a:solidFill>
                  <a:srgbClr val="E8600A"/>
                </a:solidFill>
                <a:latin typeface="Calibri" pitchFamily="34" charset="0"/>
                <a:ea typeface="Calibri" pitchFamily="34" charset="-122"/>
                <a:cs typeface="Calibri" pitchFamily="34" charset="-120"/>
              </a:rPr>
              <a:t>事象</a:t>
            </a:r>
            <a:endParaRPr lang="en-US" sz="950" dirty="0"/>
          </a:p>
        </p:txBody>
      </p:sp>
      <p:sp>
        <p:nvSpPr>
          <p:cNvPr id="10" name="Text 8"/>
          <p:cNvSpPr/>
          <p:nvPr/>
        </p:nvSpPr>
        <p:spPr>
          <a:xfrm>
            <a:off x="3291840" y="1325880"/>
            <a:ext cx="2651760" cy="45720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DB容量がエンタイトルメントを超過</a:t>
            </a:r>
            <a:endParaRPr lang="en-US" sz="1200" dirty="0"/>
          </a:p>
        </p:txBody>
      </p:sp>
      <p:sp>
        <p:nvSpPr>
          <p:cNvPr id="11" name="Shape 9"/>
          <p:cNvSpPr/>
          <p:nvPr/>
        </p:nvSpPr>
        <p:spPr>
          <a:xfrm>
            <a:off x="6035040" y="1097280"/>
            <a:ext cx="0" cy="685800"/>
          </a:xfrm>
          <a:prstGeom prst="line">
            <a:avLst/>
          </a:prstGeom>
          <a:noFill/>
          <a:ln w="9525">
            <a:solidFill>
              <a:srgbClr val="E8600A"/>
            </a:solidFill>
            <a:prstDash val="solid"/>
          </a:ln>
        </p:spPr>
      </p:sp>
      <p:sp>
        <p:nvSpPr>
          <p:cNvPr id="12" name="Text 10"/>
          <p:cNvSpPr/>
          <p:nvPr/>
        </p:nvSpPr>
        <p:spPr>
          <a:xfrm>
            <a:off x="6126480" y="1042416"/>
            <a:ext cx="2651760" cy="256032"/>
          </a:xfrm>
          <a:prstGeom prst="rect">
            <a:avLst/>
          </a:prstGeom>
          <a:noFill/>
          <a:ln/>
        </p:spPr>
        <p:txBody>
          <a:bodyPr wrap="square" lIns="0" tIns="0" rIns="0" bIns="0" rtlCol="0" anchor="ctr"/>
          <a:lstStyle/>
          <a:p>
            <a:pPr algn="l" indent="0" marL="0">
              <a:buNone/>
            </a:pPr>
            <a:r>
              <a:rPr lang="en-US" sz="950" b="1" dirty="0">
                <a:solidFill>
                  <a:srgbClr val="E8600A"/>
                </a:solidFill>
                <a:latin typeface="Calibri" pitchFamily="34" charset="0"/>
                <a:ea typeface="Calibri" pitchFamily="34" charset="-122"/>
                <a:cs typeface="Calibri" pitchFamily="34" charset="-120"/>
              </a:rPr>
              <a:t>財務影響</a:t>
            </a:r>
            <a:endParaRPr lang="en-US" sz="950" dirty="0"/>
          </a:p>
        </p:txBody>
      </p:sp>
      <p:sp>
        <p:nvSpPr>
          <p:cNvPr id="13" name="Text 11"/>
          <p:cNvSpPr/>
          <p:nvPr/>
        </p:nvSpPr>
        <p:spPr>
          <a:xfrm>
            <a:off x="6126480" y="1325880"/>
            <a:ext cx="2651760" cy="45720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追加容量 $40/GB/月のコスト負担</a:t>
            </a:r>
            <a:endParaRPr lang="en-US" sz="1200" dirty="0"/>
          </a:p>
        </p:txBody>
      </p:sp>
      <p:sp>
        <p:nvSpPr>
          <p:cNvPr id="14" name="Shape 12"/>
          <p:cNvSpPr/>
          <p:nvPr/>
        </p:nvSpPr>
        <p:spPr>
          <a:xfrm>
            <a:off x="228600" y="2011680"/>
            <a:ext cx="2788920" cy="411480"/>
          </a:xfrm>
          <a:prstGeom prst="rect">
            <a:avLst/>
          </a:prstGeom>
          <a:solidFill>
            <a:srgbClr val="1E2D45"/>
          </a:solidFill>
          <a:ln w="12700">
            <a:solidFill>
              <a:srgbClr val="1E2D45"/>
            </a:solidFill>
            <a:prstDash val="solid"/>
          </a:ln>
        </p:spPr>
      </p:sp>
      <p:sp>
        <p:nvSpPr>
          <p:cNvPr id="15" name="Text 13"/>
          <p:cNvSpPr/>
          <p:nvPr/>
        </p:nvSpPr>
        <p:spPr>
          <a:xfrm>
            <a:off x="228600" y="2011680"/>
            <a:ext cx="2788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Pre-Award（締結前）</a:t>
            </a:r>
            <a:endParaRPr lang="en-US" sz="1200" dirty="0"/>
          </a:p>
        </p:txBody>
      </p:sp>
      <p:sp>
        <p:nvSpPr>
          <p:cNvPr id="16" name="Shape 14"/>
          <p:cNvSpPr/>
          <p:nvPr/>
        </p:nvSpPr>
        <p:spPr>
          <a:xfrm>
            <a:off x="228600" y="2514600"/>
            <a:ext cx="2788920" cy="960120"/>
          </a:xfrm>
          <a:prstGeom prst="rect">
            <a:avLst/>
          </a:prstGeom>
          <a:solidFill>
            <a:srgbClr val="FEF0E6"/>
          </a:solidFill>
          <a:ln w="9525">
            <a:solidFill>
              <a:srgbClr val="E8600A"/>
            </a:solidFill>
            <a:prstDash val="solid"/>
          </a:ln>
        </p:spPr>
      </p:sp>
      <p:sp>
        <p:nvSpPr>
          <p:cNvPr id="17" name="Shape 15"/>
          <p:cNvSpPr/>
          <p:nvPr/>
        </p:nvSpPr>
        <p:spPr>
          <a:xfrm>
            <a:off x="228600" y="2514600"/>
            <a:ext cx="73152" cy="960120"/>
          </a:xfrm>
          <a:prstGeom prst="rect">
            <a:avLst/>
          </a:prstGeom>
          <a:solidFill>
            <a:srgbClr val="E8600A"/>
          </a:solidFill>
          <a:ln w="12700">
            <a:solidFill>
              <a:srgbClr val="E8600A"/>
            </a:solidFill>
            <a:prstDash val="solid"/>
          </a:ln>
        </p:spPr>
      </p:sp>
      <p:sp>
        <p:nvSpPr>
          <p:cNvPr id="18" name="Text 16"/>
          <p:cNvSpPr/>
          <p:nvPr/>
        </p:nvSpPr>
        <p:spPr>
          <a:xfrm>
            <a:off x="374904" y="2569464"/>
            <a:ext cx="2587752" cy="850392"/>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L-1: 課金モデル・容量制限を</a:t>
            </a:r>
            <a:endParaRPr lang="en-US" sz="1100" dirty="0"/>
          </a:p>
          <a:p>
            <a:pPr algn="l" indent="0" marL="0">
              <a:buNone/>
            </a:pPr>
            <a:r>
              <a:rPr lang="en-US" sz="1100" dirty="0">
                <a:solidFill>
                  <a:srgbClr val="1E293B"/>
                </a:solidFill>
                <a:latin typeface="Calibri" pitchFamily="34" charset="0"/>
                <a:ea typeface="Calibri" pitchFamily="34" charset="-122"/>
                <a:cs typeface="Calibri" pitchFamily="34" charset="-120"/>
              </a:rPr>
              <a:t>締結前に技術的観点から評価する</a:t>
            </a:r>
            <a:endParaRPr lang="en-US" sz="1100" dirty="0"/>
          </a:p>
        </p:txBody>
      </p:sp>
      <p:sp>
        <p:nvSpPr>
          <p:cNvPr id="19" name="Shape 17"/>
          <p:cNvSpPr/>
          <p:nvPr/>
        </p:nvSpPr>
        <p:spPr>
          <a:xfrm>
            <a:off x="228600" y="3584448"/>
            <a:ext cx="2788920" cy="960120"/>
          </a:xfrm>
          <a:prstGeom prst="rect">
            <a:avLst/>
          </a:prstGeom>
          <a:solidFill>
            <a:srgbClr val="F8FAFB"/>
          </a:solidFill>
          <a:ln w="9525">
            <a:solidFill>
              <a:srgbClr val="DDE3EA"/>
            </a:solidFill>
            <a:prstDash val="solid"/>
          </a:ln>
        </p:spPr>
      </p:sp>
      <p:sp>
        <p:nvSpPr>
          <p:cNvPr id="20" name="Shape 18"/>
          <p:cNvSpPr/>
          <p:nvPr/>
        </p:nvSpPr>
        <p:spPr>
          <a:xfrm>
            <a:off x="228600" y="3584448"/>
            <a:ext cx="73152" cy="960120"/>
          </a:xfrm>
          <a:prstGeom prst="rect">
            <a:avLst/>
          </a:prstGeom>
          <a:solidFill>
            <a:srgbClr val="E8600A"/>
          </a:solidFill>
          <a:ln w="12700">
            <a:solidFill>
              <a:srgbClr val="E8600A"/>
            </a:solidFill>
            <a:prstDash val="solid"/>
          </a:ln>
        </p:spPr>
      </p:sp>
      <p:sp>
        <p:nvSpPr>
          <p:cNvPr id="21" name="Text 19"/>
          <p:cNvSpPr/>
          <p:nvPr/>
        </p:nvSpPr>
        <p:spPr>
          <a:xfrm>
            <a:off x="374904" y="3639312"/>
            <a:ext cx="2587752" cy="850392"/>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L-6: ストレージ種別のコスト差を</a:t>
            </a:r>
            <a:endParaRPr lang="en-US" sz="1100" dirty="0"/>
          </a:p>
          <a:p>
            <a:pPr algn="l" indent="0" marL="0">
              <a:buNone/>
            </a:pPr>
            <a:r>
              <a:rPr lang="en-US" sz="1100" dirty="0">
                <a:solidFill>
                  <a:srgbClr val="1E293B"/>
                </a:solidFill>
                <a:latin typeface="Calibri" pitchFamily="34" charset="0"/>
                <a:ea typeface="Calibri" pitchFamily="34" charset="-122"/>
                <a:cs typeface="Calibri" pitchFamily="34" charset="-120"/>
              </a:rPr>
              <a:t>踏まえた格納先を設計する</a:t>
            </a:r>
            <a:endParaRPr lang="en-US" sz="1100" dirty="0"/>
          </a:p>
        </p:txBody>
      </p:sp>
      <p:sp>
        <p:nvSpPr>
          <p:cNvPr id="22" name="Shape 20"/>
          <p:cNvSpPr/>
          <p:nvPr/>
        </p:nvSpPr>
        <p:spPr>
          <a:xfrm>
            <a:off x="3086100" y="2011680"/>
            <a:ext cx="2788920" cy="411480"/>
          </a:xfrm>
          <a:prstGeom prst="rect">
            <a:avLst/>
          </a:prstGeom>
          <a:solidFill>
            <a:srgbClr val="1E2D45"/>
          </a:solidFill>
          <a:ln w="12700">
            <a:solidFill>
              <a:srgbClr val="1E2D45"/>
            </a:solidFill>
            <a:prstDash val="solid"/>
          </a:ln>
        </p:spPr>
      </p:sp>
      <p:sp>
        <p:nvSpPr>
          <p:cNvPr id="23" name="Text 21"/>
          <p:cNvSpPr/>
          <p:nvPr/>
        </p:nvSpPr>
        <p:spPr>
          <a:xfrm>
            <a:off x="3086100" y="2011680"/>
            <a:ext cx="2788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Award（締結）</a:t>
            </a:r>
            <a:endParaRPr lang="en-US" sz="1200" dirty="0"/>
          </a:p>
        </p:txBody>
      </p:sp>
      <p:sp>
        <p:nvSpPr>
          <p:cNvPr id="24" name="Shape 22"/>
          <p:cNvSpPr/>
          <p:nvPr/>
        </p:nvSpPr>
        <p:spPr>
          <a:xfrm>
            <a:off x="3086100" y="2514600"/>
            <a:ext cx="2788920" cy="960120"/>
          </a:xfrm>
          <a:prstGeom prst="rect">
            <a:avLst/>
          </a:prstGeom>
          <a:solidFill>
            <a:srgbClr val="FEF0E6"/>
          </a:solidFill>
          <a:ln w="9525">
            <a:solidFill>
              <a:srgbClr val="E8600A"/>
            </a:solidFill>
            <a:prstDash val="solid"/>
          </a:ln>
        </p:spPr>
      </p:sp>
      <p:sp>
        <p:nvSpPr>
          <p:cNvPr id="25" name="Shape 23"/>
          <p:cNvSpPr/>
          <p:nvPr/>
        </p:nvSpPr>
        <p:spPr>
          <a:xfrm>
            <a:off x="3086100" y="2514600"/>
            <a:ext cx="73152" cy="960120"/>
          </a:xfrm>
          <a:prstGeom prst="rect">
            <a:avLst/>
          </a:prstGeom>
          <a:solidFill>
            <a:srgbClr val="E8600A"/>
          </a:solidFill>
          <a:ln w="12700">
            <a:solidFill>
              <a:srgbClr val="E8600A"/>
            </a:solidFill>
            <a:prstDash val="solid"/>
          </a:ln>
        </p:spPr>
      </p:sp>
      <p:sp>
        <p:nvSpPr>
          <p:cNvPr id="26" name="Text 24"/>
          <p:cNvSpPr/>
          <p:nvPr/>
        </p:nvSpPr>
        <p:spPr>
          <a:xfrm>
            <a:off x="3232404" y="2569464"/>
            <a:ext cx="2587752" cy="850392"/>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L-2: 追加費用の発生条件・単価を</a:t>
            </a:r>
            <a:endParaRPr lang="en-US" sz="1100" dirty="0"/>
          </a:p>
          <a:p>
            <a:pPr algn="l" indent="0" marL="0">
              <a:buNone/>
            </a:pPr>
            <a:r>
              <a:rPr lang="en-US" sz="1100" dirty="0">
                <a:solidFill>
                  <a:srgbClr val="1E293B"/>
                </a:solidFill>
                <a:latin typeface="Calibri" pitchFamily="34" charset="0"/>
                <a:ea typeface="Calibri" pitchFamily="34" charset="-122"/>
                <a:cs typeface="Calibri" pitchFamily="34" charset="-120"/>
              </a:rPr>
              <a:t>IT部門内で共有する</a:t>
            </a:r>
            <a:endParaRPr lang="en-US" sz="1100" dirty="0"/>
          </a:p>
        </p:txBody>
      </p:sp>
      <p:sp>
        <p:nvSpPr>
          <p:cNvPr id="27" name="Shape 25"/>
          <p:cNvSpPr/>
          <p:nvPr/>
        </p:nvSpPr>
        <p:spPr>
          <a:xfrm>
            <a:off x="3086100" y="3584448"/>
            <a:ext cx="2788920" cy="960120"/>
          </a:xfrm>
          <a:prstGeom prst="rect">
            <a:avLst/>
          </a:prstGeom>
          <a:solidFill>
            <a:srgbClr val="F8FAFB"/>
          </a:solidFill>
          <a:ln w="9525">
            <a:solidFill>
              <a:srgbClr val="DDE3EA"/>
            </a:solidFill>
            <a:prstDash val="solid"/>
          </a:ln>
        </p:spPr>
      </p:sp>
      <p:sp>
        <p:nvSpPr>
          <p:cNvPr id="28" name="Shape 26"/>
          <p:cNvSpPr/>
          <p:nvPr/>
        </p:nvSpPr>
        <p:spPr>
          <a:xfrm>
            <a:off x="3086100" y="3584448"/>
            <a:ext cx="73152" cy="960120"/>
          </a:xfrm>
          <a:prstGeom prst="rect">
            <a:avLst/>
          </a:prstGeom>
          <a:solidFill>
            <a:srgbClr val="E8600A"/>
          </a:solidFill>
          <a:ln w="12700">
            <a:solidFill>
              <a:srgbClr val="E8600A"/>
            </a:solidFill>
            <a:prstDash val="solid"/>
          </a:ln>
        </p:spPr>
      </p:sp>
      <p:sp>
        <p:nvSpPr>
          <p:cNvPr id="29" name="Text 27"/>
          <p:cNvSpPr/>
          <p:nvPr/>
        </p:nvSpPr>
        <p:spPr>
          <a:xfrm>
            <a:off x="3232404" y="3639312"/>
            <a:ext cx="2587752" cy="850392"/>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L-3: エンタイトルメントの算出方法と</a:t>
            </a:r>
            <a:endParaRPr lang="en-US" sz="1100" dirty="0"/>
          </a:p>
          <a:p>
            <a:pPr algn="l" indent="0" marL="0">
              <a:buNone/>
            </a:pPr>
            <a:r>
              <a:rPr lang="en-US" sz="1100" dirty="0">
                <a:solidFill>
                  <a:srgbClr val="1E293B"/>
                </a:solidFill>
                <a:latin typeface="Calibri" pitchFamily="34" charset="0"/>
                <a:ea typeface="Calibri" pitchFamily="34" charset="-122"/>
                <a:cs typeface="Calibri" pitchFamily="34" charset="-120"/>
              </a:rPr>
              <a:t>実際の割当量を常に把握する</a:t>
            </a:r>
            <a:endParaRPr lang="en-US" sz="1100" dirty="0"/>
          </a:p>
        </p:txBody>
      </p:sp>
      <p:sp>
        <p:nvSpPr>
          <p:cNvPr id="30" name="Shape 28"/>
          <p:cNvSpPr/>
          <p:nvPr/>
        </p:nvSpPr>
        <p:spPr>
          <a:xfrm>
            <a:off x="5943600" y="2011680"/>
            <a:ext cx="2788920" cy="411480"/>
          </a:xfrm>
          <a:prstGeom prst="rect">
            <a:avLst/>
          </a:prstGeom>
          <a:solidFill>
            <a:srgbClr val="1E2D45"/>
          </a:solidFill>
          <a:ln w="12700">
            <a:solidFill>
              <a:srgbClr val="1E2D45"/>
            </a:solidFill>
            <a:prstDash val="solid"/>
          </a:ln>
        </p:spPr>
      </p:sp>
      <p:sp>
        <p:nvSpPr>
          <p:cNvPr id="31" name="Text 29"/>
          <p:cNvSpPr/>
          <p:nvPr/>
        </p:nvSpPr>
        <p:spPr>
          <a:xfrm>
            <a:off x="5943600" y="2011680"/>
            <a:ext cx="2788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Post-Award（締結後）</a:t>
            </a:r>
            <a:endParaRPr lang="en-US" sz="1200" dirty="0"/>
          </a:p>
        </p:txBody>
      </p:sp>
      <p:sp>
        <p:nvSpPr>
          <p:cNvPr id="32" name="Shape 30"/>
          <p:cNvSpPr/>
          <p:nvPr/>
        </p:nvSpPr>
        <p:spPr>
          <a:xfrm>
            <a:off x="5943600" y="2514600"/>
            <a:ext cx="2788920" cy="960120"/>
          </a:xfrm>
          <a:prstGeom prst="rect">
            <a:avLst/>
          </a:prstGeom>
          <a:solidFill>
            <a:srgbClr val="FEF0E6"/>
          </a:solidFill>
          <a:ln w="9525">
            <a:solidFill>
              <a:srgbClr val="E8600A"/>
            </a:solidFill>
            <a:prstDash val="solid"/>
          </a:ln>
        </p:spPr>
      </p:sp>
      <p:sp>
        <p:nvSpPr>
          <p:cNvPr id="33" name="Shape 31"/>
          <p:cNvSpPr/>
          <p:nvPr/>
        </p:nvSpPr>
        <p:spPr>
          <a:xfrm>
            <a:off x="5943600" y="2514600"/>
            <a:ext cx="73152" cy="960120"/>
          </a:xfrm>
          <a:prstGeom prst="rect">
            <a:avLst/>
          </a:prstGeom>
          <a:solidFill>
            <a:srgbClr val="E8600A"/>
          </a:solidFill>
          <a:ln w="12700">
            <a:solidFill>
              <a:srgbClr val="E8600A"/>
            </a:solidFill>
            <a:prstDash val="solid"/>
          </a:ln>
        </p:spPr>
      </p:sp>
      <p:sp>
        <p:nvSpPr>
          <p:cNvPr id="34" name="Text 32"/>
          <p:cNvSpPr/>
          <p:nvPr/>
        </p:nvSpPr>
        <p:spPr>
          <a:xfrm>
            <a:off x="6089904" y="2569464"/>
            <a:ext cx="2587752" cy="850392"/>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L-4: 容量使用状況のモニタリングを</a:t>
            </a:r>
            <a:endParaRPr lang="en-US" sz="1100" dirty="0"/>
          </a:p>
          <a:p>
            <a:pPr algn="l" indent="0" marL="0">
              <a:buNone/>
            </a:pPr>
            <a:r>
              <a:rPr lang="en-US" sz="1100" dirty="0">
                <a:solidFill>
                  <a:srgbClr val="1E293B"/>
                </a:solidFill>
                <a:latin typeface="Calibri" pitchFamily="34" charset="0"/>
                <a:ea typeface="Calibri" pitchFamily="34" charset="-122"/>
                <a:cs typeface="Calibri" pitchFamily="34" charset="-120"/>
              </a:rPr>
              <a:t>契約管理の一部として仕組み化する</a:t>
            </a:r>
            <a:endParaRPr lang="en-US" sz="1100" dirty="0"/>
          </a:p>
        </p:txBody>
      </p:sp>
      <p:sp>
        <p:nvSpPr>
          <p:cNvPr id="35" name="Shape 33"/>
          <p:cNvSpPr/>
          <p:nvPr/>
        </p:nvSpPr>
        <p:spPr>
          <a:xfrm>
            <a:off x="5943600" y="3584448"/>
            <a:ext cx="2788920" cy="960120"/>
          </a:xfrm>
          <a:prstGeom prst="rect">
            <a:avLst/>
          </a:prstGeom>
          <a:solidFill>
            <a:srgbClr val="F8FAFB"/>
          </a:solidFill>
          <a:ln w="9525">
            <a:solidFill>
              <a:srgbClr val="DDE3EA"/>
            </a:solidFill>
            <a:prstDash val="solid"/>
          </a:ln>
        </p:spPr>
      </p:sp>
      <p:sp>
        <p:nvSpPr>
          <p:cNvPr id="36" name="Shape 34"/>
          <p:cNvSpPr/>
          <p:nvPr/>
        </p:nvSpPr>
        <p:spPr>
          <a:xfrm>
            <a:off x="5943600" y="3584448"/>
            <a:ext cx="73152" cy="960120"/>
          </a:xfrm>
          <a:prstGeom prst="rect">
            <a:avLst/>
          </a:prstGeom>
          <a:solidFill>
            <a:srgbClr val="E8600A"/>
          </a:solidFill>
          <a:ln w="12700">
            <a:solidFill>
              <a:srgbClr val="E8600A"/>
            </a:solidFill>
            <a:prstDash val="solid"/>
          </a:ln>
        </p:spPr>
      </p:sp>
      <p:sp>
        <p:nvSpPr>
          <p:cNvPr id="37" name="Text 35"/>
          <p:cNvSpPr/>
          <p:nvPr/>
        </p:nvSpPr>
        <p:spPr>
          <a:xfrm>
            <a:off x="6089904" y="3639312"/>
            <a:ext cx="2587752" cy="850392"/>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L-5: ベンダー側の条件変更を定期的に</a:t>
            </a:r>
            <a:endParaRPr lang="en-US" sz="1100" dirty="0"/>
          </a:p>
          <a:p>
            <a:pPr algn="l" indent="0" marL="0">
              <a:buNone/>
            </a:pPr>
            <a:r>
              <a:rPr lang="en-US" sz="1100" dirty="0">
                <a:solidFill>
                  <a:srgbClr val="1E293B"/>
                </a:solidFill>
                <a:latin typeface="Calibri" pitchFamily="34" charset="0"/>
                <a:ea typeface="Calibri" pitchFamily="34" charset="-122"/>
                <a:cs typeface="Calibri" pitchFamily="34" charset="-120"/>
              </a:rPr>
              <a:t>追跡し、最適化機会を評価する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D45"/>
          </a:solidFill>
          <a:ln w="12700">
            <a:solidFill>
              <a:srgbClr val="1E2D45"/>
            </a:solidFill>
            <a:prstDash val="solid"/>
          </a:ln>
        </p:spPr>
      </p:sp>
      <p:sp>
        <p:nvSpPr>
          <p:cNvPr id="3" name="Shape 1"/>
          <p:cNvSpPr/>
          <p:nvPr/>
        </p:nvSpPr>
        <p:spPr>
          <a:xfrm>
            <a:off x="0" y="0"/>
            <a:ext cx="91440" cy="914400"/>
          </a:xfrm>
          <a:prstGeom prst="rect">
            <a:avLst/>
          </a:prstGeom>
          <a:solidFill>
            <a:srgbClr val="E8600A"/>
          </a:solidFill>
          <a:ln w="12700">
            <a:solidFill>
              <a:srgbClr val="E8600A"/>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チェックリスト整備の提案</a:t>
            </a:r>
            <a:endParaRPr lang="en-US" sz="2600" dirty="0"/>
          </a:p>
        </p:txBody>
      </p:sp>
      <p:sp>
        <p:nvSpPr>
          <p:cNvPr id="5" name="Shape 3"/>
          <p:cNvSpPr/>
          <p:nvPr/>
        </p:nvSpPr>
        <p:spPr>
          <a:xfrm>
            <a:off x="228600" y="1005840"/>
            <a:ext cx="2057400" cy="475488"/>
          </a:xfrm>
          <a:prstGeom prst="rect">
            <a:avLst/>
          </a:prstGeom>
          <a:solidFill>
            <a:srgbClr val="E8600A"/>
          </a:solidFill>
          <a:ln w="12700">
            <a:solidFill>
              <a:srgbClr val="E8600A"/>
            </a:solidFill>
            <a:prstDash val="solid"/>
          </a:ln>
        </p:spPr>
      </p:sp>
      <p:sp>
        <p:nvSpPr>
          <p:cNvPr id="6" name="Text 4"/>
          <p:cNvSpPr/>
          <p:nvPr/>
        </p:nvSpPr>
        <p:spPr>
          <a:xfrm>
            <a:off x="228600" y="1005840"/>
            <a:ext cx="20574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Phase 1</a:t>
            </a:r>
            <a:endParaRPr lang="en-US" sz="1600" dirty="0"/>
          </a:p>
        </p:txBody>
      </p:sp>
      <p:sp>
        <p:nvSpPr>
          <p:cNvPr id="7" name="Shape 5"/>
          <p:cNvSpPr/>
          <p:nvPr/>
        </p:nvSpPr>
        <p:spPr>
          <a:xfrm>
            <a:off x="2286000" y="1243584"/>
            <a:ext cx="91440" cy="0"/>
          </a:xfrm>
          <a:prstGeom prst="line">
            <a:avLst/>
          </a:prstGeom>
          <a:noFill/>
          <a:ln w="19050">
            <a:solidFill>
              <a:srgbClr val="E8600A"/>
            </a:solidFill>
            <a:prstDash val="solid"/>
          </a:ln>
        </p:spPr>
      </p:sp>
      <p:sp>
        <p:nvSpPr>
          <p:cNvPr id="8" name="Shape 6"/>
          <p:cNvSpPr/>
          <p:nvPr/>
        </p:nvSpPr>
        <p:spPr>
          <a:xfrm>
            <a:off x="228600" y="1517904"/>
            <a:ext cx="2057400" cy="256032"/>
          </a:xfrm>
          <a:prstGeom prst="rect">
            <a:avLst/>
          </a:prstGeom>
          <a:solidFill>
            <a:srgbClr val="FFDAC1"/>
          </a:solidFill>
          <a:ln w="12700">
            <a:solidFill>
              <a:srgbClr val="E8600A"/>
            </a:solidFill>
            <a:prstDash val="solid"/>
          </a:ln>
        </p:spPr>
      </p:sp>
      <p:sp>
        <p:nvSpPr>
          <p:cNvPr id="9" name="Text 7"/>
          <p:cNvSpPr/>
          <p:nvPr/>
        </p:nvSpPr>
        <p:spPr>
          <a:xfrm>
            <a:off x="228600" y="1517904"/>
            <a:ext cx="2057400" cy="256032"/>
          </a:xfrm>
          <a:prstGeom prst="rect">
            <a:avLst/>
          </a:prstGeom>
          <a:noFill/>
          <a:ln/>
        </p:spPr>
        <p:txBody>
          <a:bodyPr wrap="square" lIns="0" tIns="0" rIns="0" bIns="0" rtlCol="0" anchor="ctr"/>
          <a:lstStyle/>
          <a:p>
            <a:pPr algn="ctr" indent="0" marL="0">
              <a:buNone/>
            </a:pPr>
            <a:r>
              <a:rPr lang="en-US" sz="1000" b="1" dirty="0">
                <a:solidFill>
                  <a:srgbClr val="E8600A"/>
                </a:solidFill>
                <a:latin typeface="Calibri" pitchFamily="34" charset="0"/>
                <a:ea typeface="Calibri" pitchFamily="34" charset="-122"/>
                <a:cs typeface="Calibri" pitchFamily="34" charset="-120"/>
              </a:rPr>
              <a:t>優先度：最優先</a:t>
            </a:r>
            <a:endParaRPr lang="en-US" sz="1000" dirty="0"/>
          </a:p>
        </p:txBody>
      </p:sp>
      <p:sp>
        <p:nvSpPr>
          <p:cNvPr id="10" name="Text 8"/>
          <p:cNvSpPr/>
          <p:nvPr/>
        </p:nvSpPr>
        <p:spPr>
          <a:xfrm>
            <a:off x="228600" y="1828800"/>
            <a:ext cx="205740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2026年 Q2</a:t>
            </a:r>
            <a:endParaRPr lang="en-US" sz="1050" dirty="0"/>
          </a:p>
        </p:txBody>
      </p:sp>
      <p:sp>
        <p:nvSpPr>
          <p:cNvPr id="11" name="Shape 9"/>
          <p:cNvSpPr/>
          <p:nvPr/>
        </p:nvSpPr>
        <p:spPr>
          <a:xfrm>
            <a:off x="228600" y="2121408"/>
            <a:ext cx="2057400" cy="1078992"/>
          </a:xfrm>
          <a:prstGeom prst="rect">
            <a:avLst/>
          </a:prstGeom>
          <a:solidFill>
            <a:srgbClr val="FFFFFF"/>
          </a:solidFill>
          <a:ln w="6350">
            <a:solidFill>
              <a:srgbClr val="DDE3EA"/>
            </a:solidFill>
            <a:prstDash val="solid"/>
          </a:ln>
        </p:spPr>
      </p:sp>
      <p:sp>
        <p:nvSpPr>
          <p:cNvPr id="12" name="Shape 10"/>
          <p:cNvSpPr/>
          <p:nvPr/>
        </p:nvSpPr>
        <p:spPr>
          <a:xfrm>
            <a:off x="228600" y="2121408"/>
            <a:ext cx="64008" cy="1078992"/>
          </a:xfrm>
          <a:prstGeom prst="rect">
            <a:avLst/>
          </a:prstGeom>
          <a:solidFill>
            <a:srgbClr val="E8600A"/>
          </a:solidFill>
          <a:ln w="12700">
            <a:solidFill>
              <a:srgbClr val="E8600A"/>
            </a:solidFill>
            <a:prstDash val="solid"/>
          </a:ln>
        </p:spPr>
      </p:sp>
      <p:sp>
        <p:nvSpPr>
          <p:cNvPr id="13" name="Text 11"/>
          <p:cNvSpPr/>
          <p:nvPr/>
        </p:nvSpPr>
        <p:spPr>
          <a:xfrm>
            <a:off x="347472" y="2167128"/>
            <a:ext cx="1892808" cy="987552"/>
          </a:xfrm>
          <a:prstGeom prst="rect">
            <a:avLst/>
          </a:prstGeom>
          <a:noFill/>
          <a:ln/>
        </p:spPr>
        <p:txBody>
          <a:bodyPr wrap="square" lIns="0" tIns="0" rIns="0" bIns="0" rtlCol="0" anchor="ctr"/>
          <a:lstStyle/>
          <a:p>
            <a:pPr algn="l" indent="0" marL="0">
              <a:buNone/>
            </a:pPr>
            <a:r>
              <a:rPr lang="en-US" sz="1050" dirty="0">
                <a:solidFill>
                  <a:srgbClr val="1E293B"/>
                </a:solidFill>
                <a:latin typeface="Calibri" pitchFamily="34" charset="0"/>
                <a:ea typeface="Calibri" pitchFamily="34" charset="-122"/>
                <a:cs typeface="Calibri" pitchFamily="34" charset="-120"/>
              </a:rPr>
              <a:t>A-1, A-2: クラウド/SaaS</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B-1: エンタープライズ</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ライセンス</a:t>
            </a:r>
            <a:endParaRPr lang="en-US" sz="1050" dirty="0"/>
          </a:p>
        </p:txBody>
      </p:sp>
      <p:sp>
        <p:nvSpPr>
          <p:cNvPr id="14" name="Shape 12"/>
          <p:cNvSpPr/>
          <p:nvPr/>
        </p:nvSpPr>
        <p:spPr>
          <a:xfrm>
            <a:off x="2377440" y="1005840"/>
            <a:ext cx="2057400" cy="475488"/>
          </a:xfrm>
          <a:prstGeom prst="rect">
            <a:avLst/>
          </a:prstGeom>
          <a:solidFill>
            <a:srgbClr val="1E2D45"/>
          </a:solidFill>
          <a:ln w="12700">
            <a:solidFill>
              <a:srgbClr val="1E2D45"/>
            </a:solidFill>
            <a:prstDash val="solid"/>
          </a:ln>
        </p:spPr>
      </p:sp>
      <p:sp>
        <p:nvSpPr>
          <p:cNvPr id="15" name="Text 13"/>
          <p:cNvSpPr/>
          <p:nvPr/>
        </p:nvSpPr>
        <p:spPr>
          <a:xfrm>
            <a:off x="2377440" y="1005840"/>
            <a:ext cx="20574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Phase 2</a:t>
            </a:r>
            <a:endParaRPr lang="en-US" sz="1600" dirty="0"/>
          </a:p>
        </p:txBody>
      </p:sp>
      <p:sp>
        <p:nvSpPr>
          <p:cNvPr id="16" name="Shape 14"/>
          <p:cNvSpPr/>
          <p:nvPr/>
        </p:nvSpPr>
        <p:spPr>
          <a:xfrm>
            <a:off x="4434840" y="1243584"/>
            <a:ext cx="91440" cy="0"/>
          </a:xfrm>
          <a:prstGeom prst="line">
            <a:avLst/>
          </a:prstGeom>
          <a:noFill/>
          <a:ln w="19050">
            <a:solidFill>
              <a:srgbClr val="E8600A"/>
            </a:solidFill>
            <a:prstDash val="solid"/>
          </a:ln>
        </p:spPr>
      </p:sp>
      <p:sp>
        <p:nvSpPr>
          <p:cNvPr id="17" name="Shape 15"/>
          <p:cNvSpPr/>
          <p:nvPr/>
        </p:nvSpPr>
        <p:spPr>
          <a:xfrm>
            <a:off x="2377440" y="1517904"/>
            <a:ext cx="2057400" cy="256032"/>
          </a:xfrm>
          <a:prstGeom prst="rect">
            <a:avLst/>
          </a:prstGeom>
          <a:solidFill>
            <a:srgbClr val="DDE3EA"/>
          </a:solidFill>
          <a:ln w="12700">
            <a:solidFill>
              <a:srgbClr val="DDE3EA"/>
            </a:solidFill>
            <a:prstDash val="solid"/>
          </a:ln>
        </p:spPr>
      </p:sp>
      <p:sp>
        <p:nvSpPr>
          <p:cNvPr id="18" name="Text 16"/>
          <p:cNvSpPr/>
          <p:nvPr/>
        </p:nvSpPr>
        <p:spPr>
          <a:xfrm>
            <a:off x="2377440" y="1517904"/>
            <a:ext cx="2057400" cy="256032"/>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優先度：高</a:t>
            </a:r>
            <a:endParaRPr lang="en-US" sz="1000" dirty="0"/>
          </a:p>
        </p:txBody>
      </p:sp>
      <p:sp>
        <p:nvSpPr>
          <p:cNvPr id="19" name="Text 17"/>
          <p:cNvSpPr/>
          <p:nvPr/>
        </p:nvSpPr>
        <p:spPr>
          <a:xfrm>
            <a:off x="2377440" y="1828800"/>
            <a:ext cx="205740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2026年 Q3</a:t>
            </a:r>
            <a:endParaRPr lang="en-US" sz="1050" dirty="0"/>
          </a:p>
        </p:txBody>
      </p:sp>
      <p:sp>
        <p:nvSpPr>
          <p:cNvPr id="20" name="Shape 18"/>
          <p:cNvSpPr/>
          <p:nvPr/>
        </p:nvSpPr>
        <p:spPr>
          <a:xfrm>
            <a:off x="2377440" y="2121408"/>
            <a:ext cx="2057400" cy="1078992"/>
          </a:xfrm>
          <a:prstGeom prst="rect">
            <a:avLst/>
          </a:prstGeom>
          <a:solidFill>
            <a:srgbClr val="FFFFFF"/>
          </a:solidFill>
          <a:ln w="6350">
            <a:solidFill>
              <a:srgbClr val="DDE3EA"/>
            </a:solidFill>
            <a:prstDash val="solid"/>
          </a:ln>
        </p:spPr>
      </p:sp>
      <p:sp>
        <p:nvSpPr>
          <p:cNvPr id="21" name="Shape 19"/>
          <p:cNvSpPr/>
          <p:nvPr/>
        </p:nvSpPr>
        <p:spPr>
          <a:xfrm>
            <a:off x="2377440" y="2121408"/>
            <a:ext cx="64008" cy="1078992"/>
          </a:xfrm>
          <a:prstGeom prst="rect">
            <a:avLst/>
          </a:prstGeom>
          <a:solidFill>
            <a:srgbClr val="94A3B8"/>
          </a:solidFill>
          <a:ln w="12700">
            <a:solidFill>
              <a:srgbClr val="94A3B8"/>
            </a:solidFill>
            <a:prstDash val="solid"/>
          </a:ln>
        </p:spPr>
      </p:sp>
      <p:sp>
        <p:nvSpPr>
          <p:cNvPr id="22" name="Text 20"/>
          <p:cNvSpPr/>
          <p:nvPr/>
        </p:nvSpPr>
        <p:spPr>
          <a:xfrm>
            <a:off x="2496312" y="2167128"/>
            <a:ext cx="1892808" cy="987552"/>
          </a:xfrm>
          <a:prstGeom prst="rect">
            <a:avLst/>
          </a:prstGeom>
          <a:noFill/>
          <a:ln/>
        </p:spPr>
        <p:txBody>
          <a:bodyPr wrap="square" lIns="0" tIns="0" rIns="0" bIns="0" rtlCol="0" anchor="ctr"/>
          <a:lstStyle/>
          <a:p>
            <a:pPr algn="l" indent="0" marL="0">
              <a:buNone/>
            </a:pPr>
            <a:r>
              <a:rPr lang="en-US" sz="1050" dirty="0">
                <a:solidFill>
                  <a:srgbClr val="1E293B"/>
                </a:solidFill>
                <a:latin typeface="Calibri" pitchFamily="34" charset="0"/>
                <a:ea typeface="Calibri" pitchFamily="34" charset="-122"/>
                <a:cs typeface="Calibri" pitchFamily="34" charset="-120"/>
              </a:rPr>
              <a:t>C-1, C-2: システム開発</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D-1, D-2: 保守・</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マネージドサービス</a:t>
            </a:r>
            <a:endParaRPr lang="en-US" sz="1050" dirty="0"/>
          </a:p>
        </p:txBody>
      </p:sp>
      <p:sp>
        <p:nvSpPr>
          <p:cNvPr id="23" name="Shape 21"/>
          <p:cNvSpPr/>
          <p:nvPr/>
        </p:nvSpPr>
        <p:spPr>
          <a:xfrm>
            <a:off x="4526280" y="1005840"/>
            <a:ext cx="2057400" cy="475488"/>
          </a:xfrm>
          <a:prstGeom prst="rect">
            <a:avLst/>
          </a:prstGeom>
          <a:solidFill>
            <a:srgbClr val="1E2D45"/>
          </a:solidFill>
          <a:ln w="12700">
            <a:solidFill>
              <a:srgbClr val="1E2D45"/>
            </a:solidFill>
            <a:prstDash val="solid"/>
          </a:ln>
        </p:spPr>
      </p:sp>
      <p:sp>
        <p:nvSpPr>
          <p:cNvPr id="24" name="Text 22"/>
          <p:cNvSpPr/>
          <p:nvPr/>
        </p:nvSpPr>
        <p:spPr>
          <a:xfrm>
            <a:off x="4526280" y="1005840"/>
            <a:ext cx="20574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Phase 3</a:t>
            </a:r>
            <a:endParaRPr lang="en-US" sz="1600" dirty="0"/>
          </a:p>
        </p:txBody>
      </p:sp>
      <p:sp>
        <p:nvSpPr>
          <p:cNvPr id="25" name="Shape 23"/>
          <p:cNvSpPr/>
          <p:nvPr/>
        </p:nvSpPr>
        <p:spPr>
          <a:xfrm>
            <a:off x="6583680" y="1243584"/>
            <a:ext cx="91440" cy="0"/>
          </a:xfrm>
          <a:prstGeom prst="line">
            <a:avLst/>
          </a:prstGeom>
          <a:noFill/>
          <a:ln w="19050">
            <a:solidFill>
              <a:srgbClr val="E8600A"/>
            </a:solidFill>
            <a:prstDash val="solid"/>
          </a:ln>
        </p:spPr>
      </p:sp>
      <p:sp>
        <p:nvSpPr>
          <p:cNvPr id="26" name="Shape 24"/>
          <p:cNvSpPr/>
          <p:nvPr/>
        </p:nvSpPr>
        <p:spPr>
          <a:xfrm>
            <a:off x="4526280" y="1517904"/>
            <a:ext cx="2057400" cy="256032"/>
          </a:xfrm>
          <a:prstGeom prst="rect">
            <a:avLst/>
          </a:prstGeom>
          <a:solidFill>
            <a:srgbClr val="DDE3EA"/>
          </a:solidFill>
          <a:ln w="12700">
            <a:solidFill>
              <a:srgbClr val="DDE3EA"/>
            </a:solidFill>
            <a:prstDash val="solid"/>
          </a:ln>
        </p:spPr>
      </p:sp>
      <p:sp>
        <p:nvSpPr>
          <p:cNvPr id="27" name="Text 25"/>
          <p:cNvSpPr/>
          <p:nvPr/>
        </p:nvSpPr>
        <p:spPr>
          <a:xfrm>
            <a:off x="4526280" y="1517904"/>
            <a:ext cx="2057400" cy="256032"/>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優先度：中</a:t>
            </a:r>
            <a:endParaRPr lang="en-US" sz="1000" dirty="0"/>
          </a:p>
        </p:txBody>
      </p:sp>
      <p:sp>
        <p:nvSpPr>
          <p:cNvPr id="28" name="Text 26"/>
          <p:cNvSpPr/>
          <p:nvPr/>
        </p:nvSpPr>
        <p:spPr>
          <a:xfrm>
            <a:off x="4526280" y="1828800"/>
            <a:ext cx="205740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2026年 Q4</a:t>
            </a:r>
            <a:endParaRPr lang="en-US" sz="1050" dirty="0"/>
          </a:p>
        </p:txBody>
      </p:sp>
      <p:sp>
        <p:nvSpPr>
          <p:cNvPr id="29" name="Shape 27"/>
          <p:cNvSpPr/>
          <p:nvPr/>
        </p:nvSpPr>
        <p:spPr>
          <a:xfrm>
            <a:off x="4526280" y="2121408"/>
            <a:ext cx="2057400" cy="1078992"/>
          </a:xfrm>
          <a:prstGeom prst="rect">
            <a:avLst/>
          </a:prstGeom>
          <a:solidFill>
            <a:srgbClr val="FFFFFF"/>
          </a:solidFill>
          <a:ln w="6350">
            <a:solidFill>
              <a:srgbClr val="DDE3EA"/>
            </a:solidFill>
            <a:prstDash val="solid"/>
          </a:ln>
        </p:spPr>
      </p:sp>
      <p:sp>
        <p:nvSpPr>
          <p:cNvPr id="30" name="Shape 28"/>
          <p:cNvSpPr/>
          <p:nvPr/>
        </p:nvSpPr>
        <p:spPr>
          <a:xfrm>
            <a:off x="4526280" y="2121408"/>
            <a:ext cx="64008" cy="1078992"/>
          </a:xfrm>
          <a:prstGeom prst="rect">
            <a:avLst/>
          </a:prstGeom>
          <a:solidFill>
            <a:srgbClr val="94A3B8"/>
          </a:solidFill>
          <a:ln w="12700">
            <a:solidFill>
              <a:srgbClr val="94A3B8"/>
            </a:solidFill>
            <a:prstDash val="solid"/>
          </a:ln>
        </p:spPr>
      </p:sp>
      <p:sp>
        <p:nvSpPr>
          <p:cNvPr id="31" name="Text 29"/>
          <p:cNvSpPr/>
          <p:nvPr/>
        </p:nvSpPr>
        <p:spPr>
          <a:xfrm>
            <a:off x="4645152" y="2167128"/>
            <a:ext cx="1892808" cy="987552"/>
          </a:xfrm>
          <a:prstGeom prst="rect">
            <a:avLst/>
          </a:prstGeom>
          <a:noFill/>
          <a:ln/>
        </p:spPr>
        <p:txBody>
          <a:bodyPr wrap="square" lIns="0" tIns="0" rIns="0" bIns="0" rtlCol="0" anchor="ctr"/>
          <a:lstStyle/>
          <a:p>
            <a:pPr algn="l" indent="0" marL="0">
              <a:buNone/>
            </a:pPr>
            <a:r>
              <a:rPr lang="en-US" sz="1050" dirty="0">
                <a:solidFill>
                  <a:srgbClr val="1E293B"/>
                </a:solidFill>
                <a:latin typeface="Calibri" pitchFamily="34" charset="0"/>
                <a:ea typeface="Calibri" pitchFamily="34" charset="-122"/>
                <a:cs typeface="Calibri" pitchFamily="34" charset="-120"/>
              </a:rPr>
              <a:t>E-1, E-2: データ処理・</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セキュリティ</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B-2, B-3: ライセンス</a:t>
            </a:r>
            <a:endParaRPr lang="en-US" sz="1050" dirty="0"/>
          </a:p>
        </p:txBody>
      </p:sp>
      <p:sp>
        <p:nvSpPr>
          <p:cNvPr id="32" name="Shape 30"/>
          <p:cNvSpPr/>
          <p:nvPr/>
        </p:nvSpPr>
        <p:spPr>
          <a:xfrm>
            <a:off x="6675120" y="1005840"/>
            <a:ext cx="2057400" cy="475488"/>
          </a:xfrm>
          <a:prstGeom prst="rect">
            <a:avLst/>
          </a:prstGeom>
          <a:solidFill>
            <a:srgbClr val="1E2D45"/>
          </a:solidFill>
          <a:ln w="12700">
            <a:solidFill>
              <a:srgbClr val="1E2D45"/>
            </a:solidFill>
            <a:prstDash val="solid"/>
          </a:ln>
        </p:spPr>
      </p:sp>
      <p:sp>
        <p:nvSpPr>
          <p:cNvPr id="33" name="Text 31"/>
          <p:cNvSpPr/>
          <p:nvPr/>
        </p:nvSpPr>
        <p:spPr>
          <a:xfrm>
            <a:off x="6675120" y="1005840"/>
            <a:ext cx="20574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Phase 4</a:t>
            </a:r>
            <a:endParaRPr lang="en-US" sz="1600" dirty="0"/>
          </a:p>
        </p:txBody>
      </p:sp>
      <p:sp>
        <p:nvSpPr>
          <p:cNvPr id="34" name="Shape 32"/>
          <p:cNvSpPr/>
          <p:nvPr/>
        </p:nvSpPr>
        <p:spPr>
          <a:xfrm>
            <a:off x="6675120" y="1517904"/>
            <a:ext cx="2057400" cy="256032"/>
          </a:xfrm>
          <a:prstGeom prst="rect">
            <a:avLst/>
          </a:prstGeom>
          <a:solidFill>
            <a:srgbClr val="DDE3EA"/>
          </a:solidFill>
          <a:ln w="12700">
            <a:solidFill>
              <a:srgbClr val="DDE3EA"/>
            </a:solidFill>
            <a:prstDash val="solid"/>
          </a:ln>
        </p:spPr>
      </p:sp>
      <p:sp>
        <p:nvSpPr>
          <p:cNvPr id="35" name="Text 33"/>
          <p:cNvSpPr/>
          <p:nvPr/>
        </p:nvSpPr>
        <p:spPr>
          <a:xfrm>
            <a:off x="6675120" y="1517904"/>
            <a:ext cx="2057400" cy="256032"/>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優先度：通常</a:t>
            </a:r>
            <a:endParaRPr lang="en-US" sz="1000" dirty="0"/>
          </a:p>
        </p:txBody>
      </p:sp>
      <p:sp>
        <p:nvSpPr>
          <p:cNvPr id="36" name="Text 34"/>
          <p:cNvSpPr/>
          <p:nvPr/>
        </p:nvSpPr>
        <p:spPr>
          <a:xfrm>
            <a:off x="6675120" y="1828800"/>
            <a:ext cx="205740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2027年 Q1</a:t>
            </a:r>
            <a:endParaRPr lang="en-US" sz="1050" dirty="0"/>
          </a:p>
        </p:txBody>
      </p:sp>
      <p:sp>
        <p:nvSpPr>
          <p:cNvPr id="37" name="Shape 35"/>
          <p:cNvSpPr/>
          <p:nvPr/>
        </p:nvSpPr>
        <p:spPr>
          <a:xfrm>
            <a:off x="6675120" y="2121408"/>
            <a:ext cx="2057400" cy="1078992"/>
          </a:xfrm>
          <a:prstGeom prst="rect">
            <a:avLst/>
          </a:prstGeom>
          <a:solidFill>
            <a:srgbClr val="FFFFFF"/>
          </a:solidFill>
          <a:ln w="6350">
            <a:solidFill>
              <a:srgbClr val="DDE3EA"/>
            </a:solidFill>
            <a:prstDash val="solid"/>
          </a:ln>
        </p:spPr>
      </p:sp>
      <p:sp>
        <p:nvSpPr>
          <p:cNvPr id="38" name="Shape 36"/>
          <p:cNvSpPr/>
          <p:nvPr/>
        </p:nvSpPr>
        <p:spPr>
          <a:xfrm>
            <a:off x="6675120" y="2121408"/>
            <a:ext cx="64008" cy="1078992"/>
          </a:xfrm>
          <a:prstGeom prst="rect">
            <a:avLst/>
          </a:prstGeom>
          <a:solidFill>
            <a:srgbClr val="94A3B8"/>
          </a:solidFill>
          <a:ln w="12700">
            <a:solidFill>
              <a:srgbClr val="94A3B8"/>
            </a:solidFill>
            <a:prstDash val="solid"/>
          </a:ln>
        </p:spPr>
      </p:sp>
      <p:sp>
        <p:nvSpPr>
          <p:cNvPr id="39" name="Text 37"/>
          <p:cNvSpPr/>
          <p:nvPr/>
        </p:nvSpPr>
        <p:spPr>
          <a:xfrm>
            <a:off x="6793992" y="2167128"/>
            <a:ext cx="1892808" cy="987552"/>
          </a:xfrm>
          <a:prstGeom prst="rect">
            <a:avLst/>
          </a:prstGeom>
          <a:noFill/>
          <a:ln/>
        </p:spPr>
        <p:txBody>
          <a:bodyPr wrap="square" lIns="0" tIns="0" rIns="0" bIns="0" rtlCol="0" anchor="ctr"/>
          <a:lstStyle/>
          <a:p>
            <a:pPr algn="l" indent="0" marL="0">
              <a:buNone/>
            </a:pPr>
            <a:r>
              <a:rPr lang="en-US" sz="1050" dirty="0">
                <a:solidFill>
                  <a:srgbClr val="1E293B"/>
                </a:solidFill>
                <a:latin typeface="Calibri" pitchFamily="34" charset="0"/>
                <a:ea typeface="Calibri" pitchFamily="34" charset="-122"/>
                <a:cs typeface="Calibri" pitchFamily="34" charset="-120"/>
              </a:rPr>
              <a:t>F, G, H類型</a:t>
            </a:r>
            <a:endParaRPr lang="en-US" sz="1050" dirty="0"/>
          </a:p>
          <a:p>
            <a:pPr algn="l" indent="0" marL="0">
              <a:buNone/>
            </a:pPr>
            <a:r>
              <a:rPr lang="en-US" sz="1050" dirty="0">
                <a:solidFill>
                  <a:srgbClr val="1E293B"/>
                </a:solidFill>
                <a:latin typeface="Calibri" pitchFamily="34" charset="0"/>
                <a:ea typeface="Calibri" pitchFamily="34" charset="-122"/>
                <a:cs typeface="Calibri" pitchFamily="34" charset="-120"/>
              </a:rPr>
              <a:t>通信・IT人材・その他</a:t>
            </a:r>
            <a:endParaRPr lang="en-US" sz="1050" dirty="0"/>
          </a:p>
        </p:txBody>
      </p:sp>
      <p:sp>
        <p:nvSpPr>
          <p:cNvPr id="40" name="Shape 38"/>
          <p:cNvSpPr/>
          <p:nvPr/>
        </p:nvSpPr>
        <p:spPr>
          <a:xfrm>
            <a:off x="228600" y="3364992"/>
            <a:ext cx="8686800" cy="0"/>
          </a:xfrm>
          <a:prstGeom prst="line">
            <a:avLst/>
          </a:prstGeom>
          <a:noFill/>
          <a:ln w="9525">
            <a:solidFill>
              <a:srgbClr val="DDE3EA"/>
            </a:solidFill>
            <a:prstDash val="solid"/>
          </a:ln>
        </p:spPr>
      </p:sp>
      <p:sp>
        <p:nvSpPr>
          <p:cNvPr id="41" name="Text 39"/>
          <p:cNvSpPr/>
          <p:nvPr/>
        </p:nvSpPr>
        <p:spPr>
          <a:xfrm>
            <a:off x="228600" y="3429000"/>
            <a:ext cx="4572000" cy="320040"/>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チェックリストの設計方針</a:t>
            </a:r>
            <a:endParaRPr lang="en-US" sz="1300" dirty="0"/>
          </a:p>
        </p:txBody>
      </p:sp>
      <p:sp>
        <p:nvSpPr>
          <p:cNvPr id="42" name="Shape 40"/>
          <p:cNvSpPr/>
          <p:nvPr/>
        </p:nvSpPr>
        <p:spPr>
          <a:xfrm>
            <a:off x="228600" y="3904488"/>
            <a:ext cx="237744" cy="237744"/>
          </a:xfrm>
          <a:prstGeom prst="ellipse">
            <a:avLst/>
          </a:prstGeom>
          <a:solidFill>
            <a:srgbClr val="E8600A"/>
          </a:solidFill>
          <a:ln w="12700">
            <a:solidFill>
              <a:srgbClr val="E8600A"/>
            </a:solidFill>
            <a:prstDash val="solid"/>
          </a:ln>
        </p:spPr>
      </p:sp>
      <p:sp>
        <p:nvSpPr>
          <p:cNvPr id="43" name="Text 41"/>
          <p:cNvSpPr/>
          <p:nvPr/>
        </p:nvSpPr>
        <p:spPr>
          <a:xfrm>
            <a:off x="228600" y="390448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4" name="Text 42"/>
          <p:cNvSpPr/>
          <p:nvPr/>
        </p:nvSpPr>
        <p:spPr>
          <a:xfrm>
            <a:off x="539496" y="3840480"/>
            <a:ext cx="4023360" cy="384048"/>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実用性重視：IT担当者が10〜15分で確認完了できる分量</a:t>
            </a:r>
            <a:endParaRPr lang="en-US" sz="1100" dirty="0"/>
          </a:p>
        </p:txBody>
      </p:sp>
      <p:sp>
        <p:nvSpPr>
          <p:cNvPr id="45" name="Shape 43"/>
          <p:cNvSpPr/>
          <p:nvPr/>
        </p:nvSpPr>
        <p:spPr>
          <a:xfrm>
            <a:off x="4709160" y="3904488"/>
            <a:ext cx="237744" cy="237744"/>
          </a:xfrm>
          <a:prstGeom prst="ellipse">
            <a:avLst/>
          </a:prstGeom>
          <a:solidFill>
            <a:srgbClr val="E8600A"/>
          </a:solidFill>
          <a:ln w="12700">
            <a:solidFill>
              <a:srgbClr val="E8600A"/>
            </a:solidFill>
            <a:prstDash val="solid"/>
          </a:ln>
        </p:spPr>
      </p:sp>
      <p:sp>
        <p:nvSpPr>
          <p:cNvPr id="46" name="Text 44"/>
          <p:cNvSpPr/>
          <p:nvPr/>
        </p:nvSpPr>
        <p:spPr>
          <a:xfrm>
            <a:off x="4709160" y="390448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7" name="Text 45"/>
          <p:cNvSpPr/>
          <p:nvPr/>
        </p:nvSpPr>
        <p:spPr>
          <a:xfrm>
            <a:off x="5020056" y="3840480"/>
            <a:ext cx="4023360" cy="384048"/>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判断基準の明示：IT完結 / 法務エスカレーション / 調達連携 を各項目に明記</a:t>
            </a:r>
            <a:endParaRPr lang="en-US" sz="1100" dirty="0"/>
          </a:p>
        </p:txBody>
      </p:sp>
      <p:sp>
        <p:nvSpPr>
          <p:cNvPr id="48" name="Shape 46"/>
          <p:cNvSpPr/>
          <p:nvPr/>
        </p:nvSpPr>
        <p:spPr>
          <a:xfrm>
            <a:off x="228600" y="4389120"/>
            <a:ext cx="237744" cy="237744"/>
          </a:xfrm>
          <a:prstGeom prst="ellipse">
            <a:avLst/>
          </a:prstGeom>
          <a:solidFill>
            <a:srgbClr val="E8600A"/>
          </a:solidFill>
          <a:ln w="12700">
            <a:solidFill>
              <a:srgbClr val="E8600A"/>
            </a:solidFill>
            <a:prstDash val="solid"/>
          </a:ln>
        </p:spPr>
      </p:sp>
      <p:sp>
        <p:nvSpPr>
          <p:cNvPr id="49" name="Text 47"/>
          <p:cNvSpPr/>
          <p:nvPr/>
        </p:nvSpPr>
        <p:spPr>
          <a:xfrm>
            <a:off x="228600" y="4389120"/>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0" name="Text 48"/>
          <p:cNvSpPr/>
          <p:nvPr/>
        </p:nvSpPr>
        <p:spPr>
          <a:xfrm>
            <a:off x="539496" y="4325112"/>
            <a:ext cx="4023360" cy="384048"/>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具体的な確認ポイント：契約書のどこを見るか・何を数値で確認するかを記載</a:t>
            </a:r>
            <a:endParaRPr lang="en-US" sz="1100" dirty="0"/>
          </a:p>
        </p:txBody>
      </p:sp>
      <p:sp>
        <p:nvSpPr>
          <p:cNvPr id="51" name="Shape 49"/>
          <p:cNvSpPr/>
          <p:nvPr/>
        </p:nvSpPr>
        <p:spPr>
          <a:xfrm>
            <a:off x="4709160" y="4389120"/>
            <a:ext cx="237744" cy="237744"/>
          </a:xfrm>
          <a:prstGeom prst="ellipse">
            <a:avLst/>
          </a:prstGeom>
          <a:solidFill>
            <a:srgbClr val="E8600A"/>
          </a:solidFill>
          <a:ln w="12700">
            <a:solidFill>
              <a:srgbClr val="E8600A"/>
            </a:solidFill>
            <a:prstDash val="solid"/>
          </a:ln>
        </p:spPr>
      </p:sp>
      <p:sp>
        <p:nvSpPr>
          <p:cNvPr id="52" name="Text 50"/>
          <p:cNvSpPr/>
          <p:nvPr/>
        </p:nvSpPr>
        <p:spPr>
          <a:xfrm>
            <a:off x="4709160" y="4389120"/>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3" name="Text 51"/>
          <p:cNvSpPr/>
          <p:nvPr/>
        </p:nvSpPr>
        <p:spPr>
          <a:xfrm>
            <a:off x="5020056" y="4325112"/>
            <a:ext cx="4023360" cy="384048"/>
          </a:xfrm>
          <a:prstGeom prst="rect">
            <a:avLst/>
          </a:prstGeom>
          <a:noFill/>
          <a:ln/>
        </p:spPr>
        <p:txBody>
          <a:bodyPr wrap="square" lIns="0" tIns="0" rIns="0" bIns="0"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更新可能な構造：新たなLessons Learnedが発生するたびに追加できる仕組み</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IT契約ガイドライン</dc:title>
  <dc:subject>PptxGenJS Presentation</dc:subject>
  <dc:creator>PptxGenJS</dc:creator>
  <cp:lastModifiedBy>PptxGenJS</cp:lastModifiedBy>
  <cp:revision>1</cp:revision>
  <dcterms:created xsi:type="dcterms:W3CDTF">2026-05-03T12:38:46Z</dcterms:created>
  <dcterms:modified xsi:type="dcterms:W3CDTF">2026-05-03T12:38:46Z</dcterms:modified>
</cp:coreProperties>
</file>